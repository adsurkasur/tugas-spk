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Minggu lain</c:v>
                </c:pt>
              </c:strCache>
            </c:strRef>
          </c:tx>
          <c:spPr>
            <a:solidFill>
              <a:srgbClr val="2D6A4F"/>
            </a:solidFill>
            <a:effectLst/>
          </c:spPr>
          <c:invertIfNegative val="0"/>
          <c:dLbls>
            <c:numFmt formatCode="#,##0.0;;;" sourceLinked="0"/>
            <c:txPr>
              <a:bodyPr/>
              <a:lstStyle/>
              <a:p>
                <a:pPr>
                  <a:defRPr b="0" i="0" strike="noStrike" sz="1200" u="none">
                    <a:solidFill>
                      <a:srgbClr val="212529"/>
                    </a:solidFill>
                    <a:latin typeface="Arial"/>
                  </a:defRPr>
                </a:pPr>
              </a:p>
            </c:txPr>
            <c:showLegendKey val="0"/>
            <c:showVal val="1"/>
            <c:showCatName val="0"/>
            <c:showSerName val="0"/>
            <c:showPercent val="0"/>
            <c:showBubbleSize val="0"/>
            <c:showLeaderLines val="0"/>
          </c:dLbls>
          <c:cat>
            <c:multiLvlStrRef>
              <c:f>Sheet1!$A$2:$A$9</c:f>
              <c:multiLvlStrCache>
                <c:ptCount val="8"/>
                <c:lvl>
                  <c:pt idx="0">
                    <c:v>M-32</c:v>
                  </c:pt>
                  <c:pt idx="1">
                    <c:v>M-33</c:v>
                  </c:pt>
                  <c:pt idx="2">
                    <c:v>M-34</c:v>
                  </c:pt>
                  <c:pt idx="3">
                    <c:v>M-35</c:v>
                  </c:pt>
                  <c:pt idx="4">
                    <c:v>M-36</c:v>
                  </c:pt>
                  <c:pt idx="5">
                    <c:v>M-37</c:v>
                  </c:pt>
                  <c:pt idx="6">
                    <c:v>M-38</c:v>
                  </c:pt>
                  <c:pt idx="7">
                    <c:v>M-39</c:v>
                  </c:pt>
                </c:lvl>
              </c:multiLvlStrCache>
            </c:multiLvlStrRef>
          </c:cat>
          <c:val>
            <c:numRef>
              <c:f>Sheet1!$B$2:$B$9</c:f>
              <c:numCache>
                <c:formatCode>General</c:formatCode>
                <c:ptCount val="8"/>
                <c:pt idx="0">
                  <c:v>2.33</c:v>
                </c:pt>
                <c:pt idx="1">
                  <c:v>1.04</c:v>
                </c:pt>
                <c:pt idx="2">
                  <c:v>2.4</c:v>
                </c:pt>
                <c:pt idx="3">
                  <c:v>0.56</c:v>
                </c:pt>
                <c:pt idx="4">
                  <c:v>0</c:v>
                </c:pt>
                <c:pt idx="5">
                  <c:v>5.94</c:v>
                </c:pt>
                <c:pt idx="6">
                  <c:v>1.38</c:v>
                </c:pt>
                <c:pt idx="7">
                  <c:v>1.05</c:v>
                </c:pt>
              </c:numCache>
            </c:numRef>
          </c:val>
        </c:ser>
        <c:ser>
          <c:idx val="1"/>
          <c:order val="1"/>
          <c:tx>
            <c:strRef>
              <c:f>Sheet1!$C$1</c:f>
              <c:strCache>
                <c:ptCount val="1"/>
                <c:pt idx="0">
                  <c:v>Minggu puncak</c:v>
                </c:pt>
              </c:strCache>
            </c:strRef>
          </c:tx>
          <c:spPr>
            <a:solidFill>
              <a:srgbClr val="E09F3E"/>
            </a:solidFill>
            <a:effectLst/>
          </c:spPr>
          <c:invertIfNegative val="0"/>
          <c:dLbls>
            <c:numFmt formatCode="#,##0.0;;;" sourceLinked="0"/>
            <c:txPr>
              <a:bodyPr/>
              <a:lstStyle/>
              <a:p>
                <a:pPr>
                  <a:defRPr b="0" i="0" strike="noStrike" sz="1200" u="none">
                    <a:solidFill>
                      <a:srgbClr val="212529"/>
                    </a:solidFill>
                    <a:latin typeface="Arial"/>
                  </a:defRPr>
                </a:pPr>
              </a:p>
            </c:txPr>
            <c:showLegendKey val="0"/>
            <c:showVal val="1"/>
            <c:showCatName val="0"/>
            <c:showSerName val="0"/>
            <c:showPercent val="0"/>
            <c:showBubbleSize val="0"/>
            <c:showLeaderLines val="0"/>
          </c:dLbls>
          <c:cat>
            <c:multiLvlStrRef>
              <c:f>Sheet1!$A$2:$A$9</c:f>
              <c:multiLvlStrCache>
                <c:ptCount val="8"/>
                <c:lvl>
                  <c:pt idx="0">
                    <c:v>M-32</c:v>
                  </c:pt>
                  <c:pt idx="1">
                    <c:v>M-33</c:v>
                  </c:pt>
                  <c:pt idx="2">
                    <c:v>M-34</c:v>
                  </c:pt>
                  <c:pt idx="3">
                    <c:v>M-35</c:v>
                  </c:pt>
                  <c:pt idx="4">
                    <c:v>M-36</c:v>
                  </c:pt>
                  <c:pt idx="5">
                    <c:v>M-37</c:v>
                  </c:pt>
                  <c:pt idx="6">
                    <c:v>M-38</c:v>
                  </c:pt>
                  <c:pt idx="7">
                    <c:v>M-39</c:v>
                  </c:pt>
                </c:lvl>
              </c:multiLvlStrCache>
            </c:multiLvlStrRef>
          </c:cat>
          <c:val>
            <c:numRef>
              <c:f>Sheet1!$C$2:$C$9</c:f>
              <c:numCache>
                <c:formatCode>General</c:formatCode>
                <c:ptCount val="8"/>
                <c:pt idx="0">
                  <c:v>0</c:v>
                </c:pt>
                <c:pt idx="1">
                  <c:v>0</c:v>
                </c:pt>
                <c:pt idx="2">
                  <c:v>0</c:v>
                </c:pt>
                <c:pt idx="3">
                  <c:v>0</c:v>
                </c:pt>
                <c:pt idx="4">
                  <c:v>15.12</c:v>
                </c:pt>
                <c:pt idx="5">
                  <c:v>0</c:v>
                </c:pt>
                <c:pt idx="6">
                  <c:v>0</c:v>
                </c:pt>
                <c:pt idx="7">
                  <c:v>0</c:v>
                </c:pt>
              </c:numCache>
            </c:numRef>
          </c:val>
        </c:ser>
        <c:dLbls>
          <c:numFmt formatCode="#,##0.0;;;" sourceLinked="0"/>
          <c:txPr>
            <a:bodyPr/>
            <a:lstStyle/>
            <a:p>
              <a:pPr>
                <a:defRPr b="0" i="0" strike="noStrike" sz="1200" u="none">
                  <a:solidFill>
                    <a:srgbClr val="212529"/>
                  </a:solidFill>
                  <a:latin typeface="Arial"/>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1252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E7"/>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Pendapatan (Rp juta)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C757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4332"/>
                </a:solidFill>
                <a:latin typeface="Arial"/>
              </a:defRPr>
            </a:pPr>
            <a:r>
              <a:rPr sz="1300" b="0" i="0" u="none" strike="noStrike">
                <a:solidFill>
                  <a:srgbClr val="1B4332"/>
                </a:solidFill>
                <a:latin typeface="Arial"/>
              </a:rPr>
              <a:t>KPI 3 · Pendapatan per komoditas (Rp juta, 8 teratas)</a:t>
            </a:r>
          </a:p>
        </c:rich>
      </c:tx>
      <c:layout/>
      <c:overlay val="0"/>
    </c:title>
    <c:autoTitleDeleted val="0"/>
    <c:plotArea>
      <c:layout/>
      <c:barChart>
        <c:barDir val="bar"/>
        <c:grouping val="clustered"/>
        <c:varyColors val="0"/>
        <c:ser>
          <c:idx val="0"/>
          <c:order val="0"/>
          <c:tx>
            <c:strRef>
              <c:f>Sheet1!$B$1</c:f>
              <c:strCache>
                <c:ptCount val="1"/>
                <c:pt idx="0">
                  <c:v>Lainnya</c:v>
                </c:pt>
              </c:strCache>
            </c:strRef>
          </c:tx>
          <c:spPr>
            <a:solidFill>
              <a:srgbClr val="2D6A4F"/>
            </a:solidFill>
            <a:effectLst/>
          </c:spPr>
          <c:invertIfNegative val="0"/>
          <c:dLbls>
            <c:numFmt formatCode="#,##0.00;;;" sourceLinked="0"/>
            <c:txPr>
              <a:bodyPr/>
              <a:lstStyle/>
              <a:p>
                <a:pPr>
                  <a:defRPr b="0" i="0" strike="noStrike" sz="1100" u="none">
                    <a:solidFill>
                      <a:srgbClr val="212529"/>
                    </a:solidFill>
                    <a:latin typeface="Arial"/>
                  </a:defRPr>
                </a:pPr>
              </a:p>
            </c:txPr>
            <c:showLegendKey val="0"/>
            <c:showVal val="1"/>
            <c:showCatName val="0"/>
            <c:showSerName val="0"/>
            <c:showPercent val="0"/>
            <c:showBubbleSize val="0"/>
            <c:showLeaderLines val="0"/>
          </c:dLbls>
          <c:cat>
            <c:multiLvlStrRef>
              <c:f>Sheet1!$A$2:$A$9</c:f>
              <c:multiLvlStrCache>
                <c:ptCount val="8"/>
                <c:lvl>
                  <c:pt idx="0">
                    <c:v>Timun</c:v>
                  </c:pt>
                  <c:pt idx="1">
                    <c:v>Melon Pettravanny</c:v>
                  </c:pt>
                  <c:pt idx="2">
                    <c:v>Kacang Tanah</c:v>
                  </c:pt>
                  <c:pt idx="3">
                    <c:v>Melon The Blues</c:v>
                  </c:pt>
                  <c:pt idx="4">
                    <c:v>Melon Sweet Hammy</c:v>
                  </c:pt>
                  <c:pt idx="5">
                    <c:v>Pete</c:v>
                  </c:pt>
                  <c:pt idx="6">
                    <c:v>Tomat Cherry</c:v>
                  </c:pt>
                  <c:pt idx="7">
                    <c:v>Melon Sweet Lavender</c:v>
                  </c:pt>
                </c:lvl>
              </c:multiLvlStrCache>
            </c:multiLvlStrRef>
          </c:cat>
          <c:val>
            <c:numRef>
              <c:f>Sheet1!$B$2:$B$9</c:f>
              <c:numCache>
                <c:formatCode>General</c:formatCode>
                <c:ptCount val="8"/>
                <c:pt idx="0">
                  <c:v>0.18</c:v>
                </c:pt>
                <c:pt idx="1">
                  <c:v>0.23</c:v>
                </c:pt>
                <c:pt idx="2">
                  <c:v>0.41</c:v>
                </c:pt>
                <c:pt idx="3">
                  <c:v>0.6</c:v>
                </c:pt>
                <c:pt idx="4">
                  <c:v>1.24</c:v>
                </c:pt>
                <c:pt idx="5">
                  <c:v>2.44</c:v>
                </c:pt>
                <c:pt idx="6">
                  <c:v>0</c:v>
                </c:pt>
                <c:pt idx="7">
                  <c:v>0</c:v>
                </c:pt>
              </c:numCache>
            </c:numRef>
          </c:val>
        </c:ser>
        <c:ser>
          <c:idx val="1"/>
          <c:order val="1"/>
          <c:tx>
            <c:strRef>
              <c:f>Sheet1!$C$1</c:f>
              <c:strCache>
                <c:ptCount val="1"/>
                <c:pt idx="0">
                  <c:v>Top 2</c:v>
                </c:pt>
              </c:strCache>
            </c:strRef>
          </c:tx>
          <c:spPr>
            <a:solidFill>
              <a:srgbClr val="E09F3E"/>
            </a:solidFill>
            <a:effectLst/>
          </c:spPr>
          <c:invertIfNegative val="0"/>
          <c:dLbls>
            <c:numFmt formatCode="#,##0.00;;;" sourceLinked="0"/>
            <c:txPr>
              <a:bodyPr/>
              <a:lstStyle/>
              <a:p>
                <a:pPr>
                  <a:defRPr b="0" i="0" strike="noStrike" sz="1100" u="none">
                    <a:solidFill>
                      <a:srgbClr val="212529"/>
                    </a:solidFill>
                    <a:latin typeface="Arial"/>
                  </a:defRPr>
                </a:pPr>
              </a:p>
            </c:txPr>
            <c:showLegendKey val="0"/>
            <c:showVal val="1"/>
            <c:showCatName val="0"/>
            <c:showSerName val="0"/>
            <c:showPercent val="0"/>
            <c:showBubbleSize val="0"/>
            <c:showLeaderLines val="0"/>
          </c:dLbls>
          <c:cat>
            <c:multiLvlStrRef>
              <c:f>Sheet1!$A$2:$A$9</c:f>
              <c:multiLvlStrCache>
                <c:ptCount val="8"/>
                <c:lvl>
                  <c:pt idx="0">
                    <c:v>Timun</c:v>
                  </c:pt>
                  <c:pt idx="1">
                    <c:v>Melon Pettravanny</c:v>
                  </c:pt>
                  <c:pt idx="2">
                    <c:v>Kacang Tanah</c:v>
                  </c:pt>
                  <c:pt idx="3">
                    <c:v>Melon The Blues</c:v>
                  </c:pt>
                  <c:pt idx="4">
                    <c:v>Melon Sweet Hammy</c:v>
                  </c:pt>
                  <c:pt idx="5">
                    <c:v>Pete</c:v>
                  </c:pt>
                  <c:pt idx="6">
                    <c:v>Tomat Cherry</c:v>
                  </c:pt>
                  <c:pt idx="7">
                    <c:v>Melon Sweet Lavender</c:v>
                  </c:pt>
                </c:lvl>
              </c:multiLvlStrCache>
            </c:multiLvlStrRef>
          </c:cat>
          <c:val>
            <c:numRef>
              <c:f>Sheet1!$C$2:$C$9</c:f>
              <c:numCache>
                <c:formatCode>General</c:formatCode>
                <c:ptCount val="8"/>
                <c:pt idx="0">
                  <c:v>0</c:v>
                </c:pt>
                <c:pt idx="1">
                  <c:v>0</c:v>
                </c:pt>
                <c:pt idx="2">
                  <c:v>0</c:v>
                </c:pt>
                <c:pt idx="3">
                  <c:v>0</c:v>
                </c:pt>
                <c:pt idx="4">
                  <c:v>0</c:v>
                </c:pt>
                <c:pt idx="5">
                  <c:v>0</c:v>
                </c:pt>
                <c:pt idx="6">
                  <c:v>9.6</c:v>
                </c:pt>
                <c:pt idx="7">
                  <c:v>14.44</c:v>
                </c:pt>
              </c:numCache>
            </c:numRef>
          </c:val>
        </c:ser>
        <c:dLbls>
          <c:numFmt formatCode="#,##0.00;;;" sourceLinked="0"/>
          <c:txPr>
            <a:bodyPr/>
            <a:lstStyle/>
            <a:p>
              <a:pPr>
                <a:defRPr b="0" i="0" strike="noStrike" sz="1100" u="none">
                  <a:solidFill>
                    <a:srgbClr val="212529"/>
                  </a:solidFill>
                  <a:latin typeface="Arial"/>
                </a:defRPr>
              </a:pPr>
            </a:p>
          </c:txP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(±30 dtk). Tugas ini membangun BI dashboard sebagai sistem penunjang keputusan untuk kebun produksi BBPP Ketindan. Datanya buku kasir asli 8 minggu, dimodelkan menjadi star schema, lalu divisualisasikan di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Organisasi (±1,5 mnt). BBPP Ketindan adalah UPT Kementan di Lawang yang menggabungkan pelatihan vokasi dengan kebun produksi komersial. Hasil kebun dijual langsung di balai ke pembeli grosir dan eceran. Pemangku kepentingan utama: pengelola kebun yang memutuskan jadwal tanam, staf penjualan yang mencatat transaksi, dan pembeli. Masalahnya, semua keputusan masih berdasar ingatan dan buku kasir.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Alasan KPI (±1,5 mnt). Lima KPI ini diturunkan dari pertanyaan pengelola dan dari kolom yang benar-benar tercatat. Dua KPI waktu untuk arus kas dan jadwal panen, dua KPI produk untuk prioritas komoditas, satu KPI pembeli untuk kemitraan. Margin dan stok tidak dicatat, jadi tidak saya jadikan KPI.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(±1,5 mnt). Data diambil dari buku kasir harian kebun: 549 transaksi selama 36 hari transaksi, jauh di atas syarat minimal tiga minggu. Langkah paling penting adalah koreksi tanggal, karena empat transaksi tomat cherry tercatat tahun 2025. Hasil akhirnya divalidasi: total pendapatan sama persis dengan total di buku kasir.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Desain DW (±1,5 mnt). Tabel fakta menyimpan satu baris per transaksi dengan ukuran volume dan pendapatan. Dimensi waktu melayani KPI 1 dan 2, dimensi produk KPI 3 dan 4, dimensi pelanggan KPI 5, dan dimensi lahan untuk analisis tambahan. Semua relasi satu-ke-banyak dari dimensi ke fakta.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(±2 mnt). Tiga kartu KPI di atas memberi gambaran dalam sekali lihat. Di bawahnya grafik mingguan, donut per lahan, dua grafik produk, dan tabel pembeli. Slicer bulan dan klik pada visual mana pun memfilter semua visual lain, misalnya klik Minggu-36 untuk melihat produk dan pembeli minggu 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waktu (±2 mnt). Pendapatan mingguan sangat tidak rata. Minggu-36 menghasilkan Rp 15.121.720, atau 50,7% dari total dua bulan; Rp 11,40 Jt di antaranya dari Melon Sweet Lavender. Karena puncak itu jatuh di awal September, pendapatan September naik 81,4% dibanding Agustus. Kenaikan ini efek panen serentak, bukan tren pertumbuhan.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produk dan pembeli (±2 mnt). Melon Sweet Lavender Rp 14.436.800 dan Tomat Cherry Rp 9.603.500 bersama 80,6% omzet. Dari sisi volume, urutannya hampir sama, dengan Pete di posisi dua karena dijual per pack murah. Dua pembeli grosir dari Surabaya dan Batu menyerap 18,7% omzet, sementara 193 dari 214 pembeli berbelanja di bawah Rp 300.000.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Rekomendasi (±2 mnt). Pertama, panen raya terkonsentrasi, jadi tanam melon dibuat bergilir. Kedua, omzet terkonsentrasi di dua komoditas dan di Smart Greenhouse, jadi lahan itu diprioritaskan untuk keduanya dan blok kecil dievaluasi. Ketiga, dua pembeli grosir sangat penting, jadi diikat dengan pre-order. Batasannya: data satu musim dan tanpa biaya produksi.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(±1 mnt). Ringkasnya: buku kasir sudah menjadi data warehouse, lima KPI menjawab kapan, apa, dan siapa, dan dashboard ini bisa langsung dipakai pengelola untuk evaluasi mingguan. Tautan dashboard interaktif ada di kanan.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pp.powerbi.com/links/76fma9KOTC?ctid=8b603e04-2c81-4b3c-a54e-b1211ffbceed&amp;pbi_source=linkShare" TargetMode="External"/><Relationship Id="rId2" Type="http://schemas.openxmlformats.org/officeDocument/2006/relationships/hyperlink" Target="https://app.powerbi.com/links/76fma9KOTC?ctid=8b603e04-2c81-4b3c-a54e-b1211ffbceed&amp;pbi_source=linkShare" TargetMode="External"/><Relationship Id="rId3" Type="http://schemas.openxmlformats.org/officeDocument/2006/relationships/hyperlink" Target="https://app.powerbi.com/links/76fma9KOTC?ctid=8b603e04-2c81-4b3c-a54e-b1211ffbceed&amp;pbi_source=linkShare" TargetMode="External"/><Relationship Id="rId4" Type="http://schemas.openxmlformats.org/officeDocument/2006/relationships/hyperlink" Target="https://github.com/adsurkasur/tugas-spk" TargetMode="Externa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2418">
              <a:alpha val="72000"/>
            </a:srgbClr>
          </a:solidFill>
          <a:ln/>
        </p:spPr>
      </p:sp>
      <p:sp>
        <p:nvSpPr>
          <p:cNvPr id="4" name="Shape 1"/>
          <p:cNvSpPr/>
          <p:nvPr/>
        </p:nvSpPr>
        <p:spPr>
          <a:xfrm>
            <a:off x="0" y="0"/>
            <a:ext cx="7863840" cy="6858000"/>
          </a:xfrm>
          <a:prstGeom prst="rect">
            <a:avLst/>
          </a:prstGeom>
          <a:solidFill>
            <a:srgbClr val="0B2418">
              <a:alpha val="70000"/>
            </a:srgbClr>
          </a:solidFill>
          <a:ln/>
        </p:spPr>
      </p:sp>
      <p:sp>
        <p:nvSpPr>
          <p:cNvPr id="5" name="Text 2"/>
          <p:cNvSpPr/>
          <p:nvPr/>
        </p:nvSpPr>
        <p:spPr>
          <a:xfrm>
            <a:off x="731520" y="1371600"/>
            <a:ext cx="7315200" cy="365760"/>
          </a:xfrm>
          <a:prstGeom prst="rect">
            <a:avLst/>
          </a:prstGeom>
          <a:noFill/>
          <a:ln/>
        </p:spPr>
        <p:txBody>
          <a:bodyPr wrap="square" lIns="0" tIns="0" rIns="0" bIns="0" rtlCol="0" anchor="t"/>
          <a:lstStyle/>
          <a:p>
            <a:pPr indent="0" marL="0">
              <a:buNone/>
            </a:pPr>
            <a:r>
              <a:rPr lang="en-US" sz="1400" b="1" spc="200" kern="0" dirty="0">
                <a:solidFill>
                  <a:srgbClr val="E09F3E"/>
                </a:solidFill>
                <a:latin typeface="Calibri" pitchFamily="34" charset="0"/>
                <a:ea typeface="Calibri" pitchFamily="34" charset="-122"/>
                <a:cs typeface="Calibri" pitchFamily="34" charset="-120"/>
              </a:rPr>
              <a:t>TUGAS 1 · SISTEM PENUNJANG KEPUTUSAN</a:t>
            </a:r>
            <a:endParaRPr lang="en-US" sz="1400" dirty="0"/>
          </a:p>
        </p:txBody>
      </p:sp>
      <p:sp>
        <p:nvSpPr>
          <p:cNvPr id="6" name="Text 3"/>
          <p:cNvSpPr/>
          <p:nvPr/>
        </p:nvSpPr>
        <p:spPr>
          <a:xfrm>
            <a:off x="731520" y="1828800"/>
            <a:ext cx="6949440" cy="20116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BI Dashboard sebagai DSS untuk Penjualan Kebun Produksi BBPP Ketindan</a:t>
            </a:r>
            <a:endParaRPr lang="en-US" sz="4000" dirty="0"/>
          </a:p>
        </p:txBody>
      </p:sp>
      <p:sp>
        <p:nvSpPr>
          <p:cNvPr id="7" name="Text 4"/>
          <p:cNvSpPr/>
          <p:nvPr/>
        </p:nvSpPr>
        <p:spPr>
          <a:xfrm>
            <a:off x="731520" y="3977640"/>
            <a:ext cx="6766560" cy="731520"/>
          </a:xfrm>
          <a:prstGeom prst="rect">
            <a:avLst/>
          </a:prstGeom>
          <a:noFill/>
          <a:ln/>
        </p:spPr>
        <p:txBody>
          <a:bodyPr wrap="square" lIns="0" tIns="0" rIns="0" bIns="0" rtlCol="0" anchor="t"/>
          <a:lstStyle/>
          <a:p>
            <a:pPr indent="0" marL="0">
              <a:buNone/>
            </a:pPr>
            <a:r>
              <a:rPr lang="en-US" sz="1800" dirty="0">
                <a:solidFill>
                  <a:srgbClr val="DDEBE2"/>
                </a:solidFill>
                <a:latin typeface="Calibri" pitchFamily="34" charset="0"/>
                <a:ea typeface="Calibri" pitchFamily="34" charset="-122"/>
                <a:cs typeface="Calibri" pitchFamily="34" charset="-120"/>
              </a:rPr>
              <a:t>Star schema data warehouse dan dashboard Power BI dari 549 transaksi, 3 Agustus–25 September 2026</a:t>
            </a:r>
            <a:endParaRPr lang="en-US" sz="1800" dirty="0"/>
          </a:p>
        </p:txBody>
      </p:sp>
      <p:sp>
        <p:nvSpPr>
          <p:cNvPr id="8" name="Text 5"/>
          <p:cNvSpPr/>
          <p:nvPr/>
        </p:nvSpPr>
        <p:spPr>
          <a:xfrm>
            <a:off x="731520" y="5074920"/>
            <a:ext cx="640080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Ade Surya Ananda</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NIM 2646000083 · Sistem Penunjang Keputusan</a:t>
            </a:r>
            <a:endParaRPr lang="en-US" sz="1600" dirty="0"/>
          </a:p>
        </p:txBody>
      </p:sp>
      <p:sp>
        <p:nvSpPr>
          <p:cNvPr id="9" name="Text 6"/>
          <p:cNvSpPr/>
          <p:nvPr/>
        </p:nvSpPr>
        <p:spPr>
          <a:xfrm>
            <a:off x="731520" y="6400800"/>
            <a:ext cx="7315200" cy="274320"/>
          </a:xfrm>
          <a:prstGeom prst="rect">
            <a:avLst/>
          </a:prstGeom>
          <a:noFill/>
          <a:ln/>
        </p:spPr>
        <p:txBody>
          <a:bodyPr wrap="square" lIns="0" tIns="0" rIns="0" bIns="0" rtlCol="0" anchor="t"/>
          <a:lstStyle/>
          <a:p>
            <a:pPr indent="0" marL="0">
              <a:buNone/>
            </a:pPr>
            <a:r>
              <a:rPr lang="en-US" sz="1100" i="1" dirty="0">
                <a:solidFill>
                  <a:srgbClr val="C9D8CF"/>
                </a:solidFill>
                <a:latin typeface="Calibri" pitchFamily="34" charset="0"/>
                <a:ea typeface="Calibri" pitchFamily="34" charset="-122"/>
                <a:cs typeface="Calibri" pitchFamily="34" charset="-120"/>
              </a:rPr>
              <a:t>Foto: Smart Greenhouse melon BBPP Ketindan, dokumentasi observasi Oktober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548640"/>
          </a:xfrm>
          <a:prstGeom prst="ellipse">
            <a:avLst/>
          </a:prstGeom>
          <a:solidFill>
            <a:srgbClr val="1B4332"/>
          </a:solidFill>
          <a:ln/>
        </p:spPr>
      </p:sp>
      <p:sp>
        <p:nvSpPr>
          <p:cNvPr id="3" name="Text 1"/>
          <p:cNvSpPr/>
          <p:nvPr/>
        </p:nvSpPr>
        <p:spPr>
          <a:xfrm>
            <a:off x="548640" y="384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4" name="Text 2"/>
          <p:cNvSpPr/>
          <p:nvPr/>
        </p:nvSpPr>
        <p:spPr>
          <a:xfrm>
            <a:off x="1280160" y="274320"/>
            <a:ext cx="9997135" cy="868680"/>
          </a:xfrm>
          <a:prstGeom prst="rect">
            <a:avLst/>
          </a:prstGeom>
          <a:noFill/>
          <a:ln/>
        </p:spPr>
        <p:txBody>
          <a:bodyPr wrap="square" lIns="0" tIns="0" rIns="0" bIns="0" rtlCol="0" anchor="ctr">
            <a:normAutofit/>
          </a:bodyPr>
          <a:lstStyle/>
          <a:p>
            <a:pPr indent="0" marL="0">
              <a:buNone/>
            </a:pPr>
            <a:r>
              <a:rPr lang="en-US" sz="2400" b="1" dirty="0">
                <a:solidFill>
                  <a:srgbClr val="1B4332"/>
                </a:solidFill>
                <a:latin typeface="Cambria" pitchFamily="34" charset="0"/>
                <a:ea typeface="Cambria" pitchFamily="34" charset="-122"/>
                <a:cs typeface="Cambria" pitchFamily="34" charset="-120"/>
              </a:rPr>
              <a:t>BBPP Ketindan menjual hasil kebun pelatihannya langsung ke pembeli, tetapi pencatatannya hanya buku kasir harian</a:t>
            </a:r>
            <a:endParaRPr lang="en-US" sz="2400" dirty="0"/>
          </a:p>
        </p:txBody>
      </p:sp>
      <p:sp>
        <p:nvSpPr>
          <p:cNvPr id="5" name="Text 3"/>
          <p:cNvSpPr/>
          <p:nvPr/>
        </p:nvSpPr>
        <p:spPr>
          <a:xfrm>
            <a:off x="11323015" y="320040"/>
            <a:ext cx="365760" cy="274320"/>
          </a:xfrm>
          <a:prstGeom prst="rect">
            <a:avLst/>
          </a:prstGeom>
          <a:noFill/>
          <a:ln/>
        </p:spPr>
        <p:txBody>
          <a:bodyPr wrap="square" lIns="0" tIns="0" rIns="0" bIns="0" rtlCol="0" anchor="t"/>
          <a:lstStyle/>
          <a:p>
            <a:pPr algn="r" indent="0" marL="0">
              <a:buNone/>
            </a:pPr>
            <a:r>
              <a:rPr lang="en-US" sz="1100" dirty="0">
                <a:solidFill>
                  <a:srgbClr val="6C757D"/>
                </a:solidFill>
                <a:latin typeface="Calibri" pitchFamily="34" charset="0"/>
                <a:ea typeface="Calibri" pitchFamily="34" charset="-122"/>
                <a:cs typeface="Calibri" pitchFamily="34" charset="-120"/>
              </a:rPr>
              <a:t>2</a:t>
            </a:r>
            <a:endParaRPr lang="en-US" sz="1100" dirty="0"/>
          </a:p>
        </p:txBody>
      </p:sp>
      <p:sp>
        <p:nvSpPr>
          <p:cNvPr id="6" name="Text 4"/>
          <p:cNvSpPr/>
          <p:nvPr/>
        </p:nvSpPr>
        <p:spPr>
          <a:xfrm>
            <a:off x="548640" y="6400800"/>
            <a:ext cx="8412480" cy="274320"/>
          </a:xfrm>
          <a:prstGeom prst="rect">
            <a:avLst/>
          </a:prstGeom>
          <a:noFill/>
          <a:ln/>
        </p:spPr>
        <p:txBody>
          <a:bodyPr wrap="square" lIns="0" tIns="0" rIns="0" bIns="0" rtlCol="0" anchor="t"/>
          <a:lstStyle/>
          <a:p>
            <a:pPr indent="0" marL="0">
              <a:buNone/>
            </a:pPr>
            <a:r>
              <a:rPr lang="en-US" sz="1100" i="1" dirty="0">
                <a:solidFill>
                  <a:srgbClr val="6C757D"/>
                </a:solidFill>
                <a:latin typeface="Calibri" pitchFamily="34" charset="0"/>
                <a:ea typeface="Calibri" pitchFamily="34" charset="-122"/>
                <a:cs typeface="Calibri" pitchFamily="34" charset="-120"/>
              </a:rPr>
              <a:t>Foto: dokumentasi observasi lapangan BBPP Ketindan, Oktober 2026.</a:t>
            </a:r>
            <a:endParaRPr lang="en-US" sz="1100" dirty="0"/>
          </a:p>
        </p:txBody>
      </p:sp>
      <p:sp>
        <p:nvSpPr>
          <p:cNvPr id="7" name="Text 5"/>
          <p:cNvSpPr/>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6C757D"/>
                </a:solidFill>
                <a:latin typeface="Calibri" pitchFamily="34" charset="0"/>
                <a:ea typeface="Calibri" pitchFamily="34" charset="-122"/>
                <a:cs typeface="Calibri" pitchFamily="34" charset="-120"/>
              </a:rPr>
              <a:t>Organisasi &amp; pemangku kepentingan</a:t>
            </a:r>
            <a:endParaRPr lang="en-US" sz="1000" dirty="0"/>
          </a:p>
        </p:txBody>
      </p:sp>
      <p:sp>
        <p:nvSpPr>
          <p:cNvPr id="9" name="Text 6"/>
          <p:cNvSpPr/>
          <p:nvPr/>
        </p:nvSpPr>
        <p:spPr>
          <a:xfrm>
            <a:off x="548640" y="1234440"/>
            <a:ext cx="11094415" cy="502920"/>
          </a:xfrm>
          <a:prstGeom prst="rect">
            <a:avLst/>
          </a:prstGeom>
          <a:noFill/>
          <a:ln/>
        </p:spPr>
        <p:txBody>
          <a:bodyPr wrap="square" lIns="0" tIns="0" rIns="0" bIns="0" rtlCol="0" anchor="t"/>
          <a:lstStyle/>
          <a:p>
            <a:pPr indent="0" marL="0">
              <a:buNone/>
            </a:pPr>
            <a:r>
              <a:rPr lang="en-US" sz="1600" dirty="0">
                <a:solidFill>
                  <a:srgbClr val="6C757D"/>
                </a:solidFill>
                <a:latin typeface="Calibri" pitchFamily="34" charset="0"/>
                <a:ea typeface="Calibri" pitchFamily="34" charset="-122"/>
                <a:cs typeface="Calibri" pitchFamily="34" charset="-120"/>
              </a:rPr>
              <a:t>UPT BPPSDMP Kementerian Pertanian di Lawang, Malang: pelatihan vokasi pertanian sekaligus kebun produksi komersial dengan 5 blok lahan (SGH, UMUM, PP, P3K, PROGEV).</a:t>
            </a:r>
            <a:endParaRPr lang="en-US" sz="1600" dirty="0"/>
          </a:p>
        </p:txBody>
      </p:sp>
      <p:pic>
        <p:nvPicPr>
          <p:cNvPr id="10" name="Image 0" descr="preencoded.png">    </p:cNvPr>
          <p:cNvPicPr>
            <a:picLocks noChangeAspect="1"/>
          </p:cNvPicPr>
          <p:nvPr/>
        </p:nvPicPr>
        <p:blipFill>
          <a:blip r:embed="rId1"/>
          <a:stretch>
            <a:fillRect/>
          </a:stretch>
        </p:blipFill>
        <p:spPr>
          <a:xfrm>
            <a:off x="548640" y="1828800"/>
            <a:ext cx="3515258" cy="2240280"/>
          </a:xfrm>
          <a:prstGeom prst="rect">
            <a:avLst/>
          </a:prstGeom>
        </p:spPr>
      </p:pic>
      <p:sp>
        <p:nvSpPr>
          <p:cNvPr id="11" name="Text 7"/>
          <p:cNvSpPr/>
          <p:nvPr/>
        </p:nvSpPr>
        <p:spPr>
          <a:xfrm>
            <a:off x="548640" y="4178808"/>
            <a:ext cx="3515258" cy="868680"/>
          </a:xfrm>
          <a:prstGeom prst="rect">
            <a:avLst/>
          </a:prstGeom>
          <a:noFill/>
          <a:ln/>
        </p:spPr>
        <p:txBody>
          <a:bodyPr wrap="square" lIns="0" tIns="0" rIns="0" bIns="0" rtlCol="0" anchor="t"/>
          <a:lstStyle/>
          <a:p>
            <a:pPr indent="0" marL="0">
              <a:buNone/>
            </a:pPr>
            <a:r>
              <a:rPr lang="en-US" sz="1600" b="1" dirty="0">
                <a:solidFill>
                  <a:srgbClr val="1B4332"/>
                </a:solidFill>
                <a:latin typeface="Calibri" pitchFamily="34" charset="0"/>
                <a:ea typeface="Calibri" pitchFamily="34" charset="-122"/>
                <a:cs typeface="Calibri" pitchFamily="34" charset="-120"/>
              </a:rPr>
              <a:t>1  Smart Greenhouse</a:t>
            </a:r>
            <a:endParaRPr lang="en-US" sz="1600" dirty="0"/>
          </a:p>
          <a:p>
            <a:pPr indent="0" marL="0">
              <a:buNone/>
            </a:pPr>
            <a:r>
              <a:rPr lang="en-US" sz="1400" dirty="0">
                <a:solidFill>
                  <a:srgbClr val="212529"/>
                </a:solidFill>
                <a:latin typeface="Calibri" pitchFamily="34" charset="0"/>
                <a:ea typeface="Calibri" pitchFamily="34" charset="-122"/>
                <a:cs typeface="Calibri" pitchFamily="34" charset="-120"/>
              </a:rPr>
              <a:t>Melon premium dan tomat cherry ditanam serentak, sehingga panen datang bersamaan.</a:t>
            </a:r>
            <a:endParaRPr lang="en-US" sz="1600" dirty="0"/>
          </a:p>
        </p:txBody>
      </p:sp>
      <p:pic>
        <p:nvPicPr>
          <p:cNvPr id="12" name="Image 1" descr="preencoded.png">    </p:cNvPr>
          <p:cNvPicPr>
            <a:picLocks noChangeAspect="1"/>
          </p:cNvPicPr>
          <p:nvPr/>
        </p:nvPicPr>
        <p:blipFill>
          <a:blip r:embed="rId2"/>
          <a:stretch>
            <a:fillRect/>
          </a:stretch>
        </p:blipFill>
        <p:spPr>
          <a:xfrm>
            <a:off x="4338218" y="1828800"/>
            <a:ext cx="3515258" cy="2240280"/>
          </a:xfrm>
          <a:prstGeom prst="rect">
            <a:avLst/>
          </a:prstGeom>
        </p:spPr>
      </p:pic>
      <p:sp>
        <p:nvSpPr>
          <p:cNvPr id="13" name="Text 8"/>
          <p:cNvSpPr/>
          <p:nvPr/>
        </p:nvSpPr>
        <p:spPr>
          <a:xfrm>
            <a:off x="4338218" y="4178808"/>
            <a:ext cx="3515258" cy="868680"/>
          </a:xfrm>
          <a:prstGeom prst="rect">
            <a:avLst/>
          </a:prstGeom>
          <a:noFill/>
          <a:ln/>
        </p:spPr>
        <p:txBody>
          <a:bodyPr wrap="square" lIns="0" tIns="0" rIns="0" bIns="0" rtlCol="0" anchor="t"/>
          <a:lstStyle/>
          <a:p>
            <a:pPr indent="0" marL="0">
              <a:buNone/>
            </a:pPr>
            <a:r>
              <a:rPr lang="en-US" sz="1600" b="1" dirty="0">
                <a:solidFill>
                  <a:srgbClr val="1B4332"/>
                </a:solidFill>
                <a:latin typeface="Calibri" pitchFamily="34" charset="0"/>
                <a:ea typeface="Calibri" pitchFamily="34" charset="-122"/>
                <a:cs typeface="Calibri" pitchFamily="34" charset="-120"/>
              </a:rPr>
              <a:t>2  Lahan terbuka</a:t>
            </a:r>
            <a:endParaRPr lang="en-US" sz="1600" dirty="0"/>
          </a:p>
          <a:p>
            <a:pPr indent="0" marL="0">
              <a:buNone/>
            </a:pPr>
            <a:r>
              <a:rPr lang="en-US" sz="1400" dirty="0">
                <a:solidFill>
                  <a:srgbClr val="212529"/>
                </a:solidFill>
                <a:latin typeface="Calibri" pitchFamily="34" charset="0"/>
                <a:ea typeface="Calibri" pitchFamily="34" charset="-122"/>
                <a:cs typeface="Calibri" pitchFamily="34" charset="-120"/>
              </a:rPr>
              <a:t>Sayuran daun seperti pakcoy dan sawi berputar cepat dengan nilai jual kecil.</a:t>
            </a:r>
            <a:endParaRPr lang="en-US" sz="1600" dirty="0"/>
          </a:p>
        </p:txBody>
      </p:sp>
      <p:pic>
        <p:nvPicPr>
          <p:cNvPr id="14" name="Image 2" descr="preencoded.png">    </p:cNvPr>
          <p:cNvPicPr>
            <a:picLocks noChangeAspect="1"/>
          </p:cNvPicPr>
          <p:nvPr/>
        </p:nvPicPr>
        <p:blipFill>
          <a:blip r:embed="rId3"/>
          <a:stretch>
            <a:fillRect/>
          </a:stretch>
        </p:blipFill>
        <p:spPr>
          <a:xfrm>
            <a:off x="8127797" y="1828800"/>
            <a:ext cx="3515258" cy="2240280"/>
          </a:xfrm>
          <a:prstGeom prst="rect">
            <a:avLst/>
          </a:prstGeom>
        </p:spPr>
      </p:pic>
      <p:sp>
        <p:nvSpPr>
          <p:cNvPr id="15" name="Text 9"/>
          <p:cNvSpPr/>
          <p:nvPr/>
        </p:nvSpPr>
        <p:spPr>
          <a:xfrm>
            <a:off x="8127797" y="4178808"/>
            <a:ext cx="3515258" cy="868680"/>
          </a:xfrm>
          <a:prstGeom prst="rect">
            <a:avLst/>
          </a:prstGeom>
          <a:noFill/>
          <a:ln/>
        </p:spPr>
        <p:txBody>
          <a:bodyPr wrap="square" lIns="0" tIns="0" rIns="0" bIns="0" rtlCol="0" anchor="t"/>
          <a:lstStyle/>
          <a:p>
            <a:pPr indent="0" marL="0">
              <a:buNone/>
            </a:pPr>
            <a:r>
              <a:rPr lang="en-US" sz="1600" b="1" dirty="0">
                <a:solidFill>
                  <a:srgbClr val="1B4332"/>
                </a:solidFill>
                <a:latin typeface="Calibri" pitchFamily="34" charset="0"/>
                <a:ea typeface="Calibri" pitchFamily="34" charset="-122"/>
                <a:cs typeface="Calibri" pitchFamily="34" charset="-120"/>
              </a:rPr>
              <a:t>3  Penjualan langsung di balai</a:t>
            </a:r>
            <a:endParaRPr lang="en-US" sz="1600" dirty="0"/>
          </a:p>
          <a:p>
            <a:pPr indent="0" marL="0">
              <a:buNone/>
            </a:pPr>
            <a:r>
              <a:rPr lang="en-US" sz="1400" dirty="0">
                <a:solidFill>
                  <a:srgbClr val="212529"/>
                </a:solidFill>
                <a:latin typeface="Calibri" pitchFamily="34" charset="0"/>
                <a:ea typeface="Calibri" pitchFamily="34" charset="-122"/>
                <a:cs typeface="Calibri" pitchFamily="34" charset="-120"/>
              </a:rPr>
              <a:t>Pembeli memilih sendiri; staf mencatat komoditas, volume, harga, dan nama pembeli.</a:t>
            </a:r>
            <a:endParaRPr lang="en-US" sz="1600" dirty="0"/>
          </a:p>
        </p:txBody>
      </p:sp>
      <p:sp>
        <p:nvSpPr>
          <p:cNvPr id="16" name="Shape 10"/>
          <p:cNvSpPr/>
          <p:nvPr/>
        </p:nvSpPr>
        <p:spPr>
          <a:xfrm>
            <a:off x="548640" y="5074920"/>
            <a:ext cx="3515258" cy="457200"/>
          </a:xfrm>
          <a:prstGeom prst="roundRect">
            <a:avLst>
              <a:gd name="adj" fmla="val 16000"/>
            </a:avLst>
          </a:prstGeom>
          <a:solidFill>
            <a:srgbClr val="EAF3EE"/>
          </a:solidFill>
          <a:ln/>
        </p:spPr>
      </p:sp>
      <p:sp>
        <p:nvSpPr>
          <p:cNvPr id="17" name="Text 11"/>
          <p:cNvSpPr/>
          <p:nvPr/>
        </p:nvSpPr>
        <p:spPr>
          <a:xfrm>
            <a:off x="685800" y="5074920"/>
            <a:ext cx="3240938" cy="45720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Pengelola kebun: </a:t>
            </a:r>
            <a:pPr indent="0" marL="0">
              <a:buNone/>
            </a:pPr>
            <a:r>
              <a:rPr lang="en-US" sz="1300" dirty="0">
                <a:solidFill>
                  <a:srgbClr val="212529"/>
                </a:solidFill>
                <a:latin typeface="Calibri" pitchFamily="34" charset="0"/>
                <a:ea typeface="Calibri" pitchFamily="34" charset="-122"/>
                <a:cs typeface="Calibri" pitchFamily="34" charset="-120"/>
              </a:rPr>
              <a:t>memutuskan jadwal tanam dan alokasi lahan</a:t>
            </a:r>
            <a:endParaRPr lang="en-US" sz="1300" dirty="0"/>
          </a:p>
        </p:txBody>
      </p:sp>
      <p:sp>
        <p:nvSpPr>
          <p:cNvPr id="18" name="Shape 12"/>
          <p:cNvSpPr/>
          <p:nvPr/>
        </p:nvSpPr>
        <p:spPr>
          <a:xfrm>
            <a:off x="4338218" y="5074920"/>
            <a:ext cx="3515258" cy="457200"/>
          </a:xfrm>
          <a:prstGeom prst="roundRect">
            <a:avLst>
              <a:gd name="adj" fmla="val 16000"/>
            </a:avLst>
          </a:prstGeom>
          <a:solidFill>
            <a:srgbClr val="EAF3EE"/>
          </a:solidFill>
          <a:ln/>
        </p:spPr>
      </p:sp>
      <p:sp>
        <p:nvSpPr>
          <p:cNvPr id="19" name="Text 13"/>
          <p:cNvSpPr/>
          <p:nvPr/>
        </p:nvSpPr>
        <p:spPr>
          <a:xfrm>
            <a:off x="4475378" y="5074920"/>
            <a:ext cx="3240938" cy="45720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Staf penjualan: </a:t>
            </a:r>
            <a:pPr indent="0" marL="0">
              <a:buNone/>
            </a:pPr>
            <a:r>
              <a:rPr lang="en-US" sz="1300" dirty="0">
                <a:solidFill>
                  <a:srgbClr val="212529"/>
                </a:solidFill>
                <a:latin typeface="Calibri" pitchFamily="34" charset="0"/>
                <a:ea typeface="Calibri" pitchFamily="34" charset="-122"/>
                <a:cs typeface="Calibri" pitchFamily="34" charset="-120"/>
              </a:rPr>
              <a:t>mencatat transaksi di buku kasir</a:t>
            </a:r>
            <a:endParaRPr lang="en-US" sz="1300" dirty="0"/>
          </a:p>
        </p:txBody>
      </p:sp>
      <p:sp>
        <p:nvSpPr>
          <p:cNvPr id="20" name="Shape 14"/>
          <p:cNvSpPr/>
          <p:nvPr/>
        </p:nvSpPr>
        <p:spPr>
          <a:xfrm>
            <a:off x="8127797" y="5074920"/>
            <a:ext cx="3515258" cy="457200"/>
          </a:xfrm>
          <a:prstGeom prst="roundRect">
            <a:avLst>
              <a:gd name="adj" fmla="val 16000"/>
            </a:avLst>
          </a:prstGeom>
          <a:solidFill>
            <a:srgbClr val="EAF3EE"/>
          </a:solidFill>
          <a:ln/>
        </p:spPr>
      </p:sp>
      <p:sp>
        <p:nvSpPr>
          <p:cNvPr id="21" name="Text 15"/>
          <p:cNvSpPr/>
          <p:nvPr/>
        </p:nvSpPr>
        <p:spPr>
          <a:xfrm>
            <a:off x="8264957" y="5074920"/>
            <a:ext cx="3240938" cy="45720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Pembeli grosir &amp; eceran: </a:t>
            </a:r>
            <a:pPr indent="0" marL="0">
              <a:buNone/>
            </a:pPr>
            <a:r>
              <a:rPr lang="en-US" sz="1300" dirty="0">
                <a:solidFill>
                  <a:srgbClr val="212529"/>
                </a:solidFill>
                <a:latin typeface="Calibri" pitchFamily="34" charset="0"/>
                <a:ea typeface="Calibri" pitchFamily="34" charset="-122"/>
                <a:cs typeface="Calibri" pitchFamily="34" charset="-120"/>
              </a:rPr>
              <a:t>menentukan serapan hasil panen</a:t>
            </a:r>
            <a:endParaRPr lang="en-US" sz="1300" dirty="0"/>
          </a:p>
        </p:txBody>
      </p:sp>
      <p:sp>
        <p:nvSpPr>
          <p:cNvPr id="22" name="Shape 16"/>
          <p:cNvSpPr/>
          <p:nvPr/>
        </p:nvSpPr>
        <p:spPr>
          <a:xfrm>
            <a:off x="548640" y="5669280"/>
            <a:ext cx="11094415" cy="566928"/>
          </a:xfrm>
          <a:prstGeom prst="roundRect">
            <a:avLst>
              <a:gd name="adj" fmla="val 9677"/>
            </a:avLst>
          </a:prstGeom>
          <a:solidFill>
            <a:srgbClr val="1B4332"/>
          </a:solidFill>
          <a:ln/>
        </p:spPr>
      </p:sp>
      <p:sp>
        <p:nvSpPr>
          <p:cNvPr id="23" name="Text 17"/>
          <p:cNvSpPr/>
          <p:nvPr/>
        </p:nvSpPr>
        <p:spPr>
          <a:xfrm>
            <a:off x="777240" y="5669280"/>
            <a:ext cx="10637215" cy="566928"/>
          </a:xfrm>
          <a:prstGeom prst="rect">
            <a:avLst/>
          </a:prstGeom>
          <a:noFill/>
          <a:ln/>
        </p:spPr>
        <p:txBody>
          <a:bodyPr wrap="square" lIns="0" tIns="0" rIns="0" bIns="0" rtlCol="0" anchor="ctr"/>
          <a:lstStyle/>
          <a:p>
            <a:pPr indent="0" marL="0">
              <a:buNone/>
            </a:pPr>
            <a:r>
              <a:rPr lang="en-US" sz="1500" b="1" dirty="0">
                <a:solidFill>
                  <a:srgbClr val="E09F3E"/>
                </a:solidFill>
                <a:latin typeface="Calibri" pitchFamily="34" charset="0"/>
                <a:ea typeface="Calibri" pitchFamily="34" charset="-122"/>
                <a:cs typeface="Calibri" pitchFamily="34" charset="-120"/>
              </a:rPr>
              <a:t>Masalah inti:  </a:t>
            </a:r>
            <a:pPr indent="0" marL="0">
              <a:buNone/>
            </a:pPr>
            <a:r>
              <a:rPr lang="en-US" sz="1500" dirty="0">
                <a:solidFill>
                  <a:srgbClr val="FFFFFF"/>
                </a:solidFill>
                <a:latin typeface="Calibri" pitchFamily="34" charset="0"/>
                <a:ea typeface="Calibri" pitchFamily="34" charset="-122"/>
                <a:cs typeface="Calibri" pitchFamily="34" charset="-120"/>
              </a:rPr>
              <a:t>panen menumpuk di minggu tertentu dan omzet bergantung pada sedikit produk dan pembeli, tetapi belum ada alat untuk melihatnya.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548640"/>
          </a:xfrm>
          <a:prstGeom prst="ellipse">
            <a:avLst/>
          </a:prstGeom>
          <a:solidFill>
            <a:srgbClr val="1B4332"/>
          </a:solidFill>
          <a:ln/>
        </p:spPr>
      </p:sp>
      <p:sp>
        <p:nvSpPr>
          <p:cNvPr id="3" name="Text 1"/>
          <p:cNvSpPr/>
          <p:nvPr/>
        </p:nvSpPr>
        <p:spPr>
          <a:xfrm>
            <a:off x="548640" y="384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Text 2"/>
          <p:cNvSpPr/>
          <p:nvPr/>
        </p:nvSpPr>
        <p:spPr>
          <a:xfrm>
            <a:off x="1280160" y="274320"/>
            <a:ext cx="9997135" cy="868680"/>
          </a:xfrm>
          <a:prstGeom prst="rect">
            <a:avLst/>
          </a:prstGeom>
          <a:noFill/>
          <a:ln/>
        </p:spPr>
        <p:txBody>
          <a:bodyPr wrap="square" lIns="0" tIns="0" rIns="0" bIns="0" rtlCol="0" anchor="ctr">
            <a:normAutofit/>
          </a:bodyPr>
          <a:lstStyle/>
          <a:p>
            <a:pPr indent="0" marL="0">
              <a:buNone/>
            </a:pPr>
            <a:r>
              <a:rPr lang="en-US" sz="2400" b="1" dirty="0">
                <a:solidFill>
                  <a:srgbClr val="1B4332"/>
                </a:solidFill>
                <a:latin typeface="Cambria" pitchFamily="34" charset="0"/>
                <a:ea typeface="Cambria" pitchFamily="34" charset="-122"/>
                <a:cs typeface="Cambria" pitchFamily="34" charset="-120"/>
              </a:rPr>
              <a:t>Lima KPI menjawab tiga keputusan: kapan hasil panen terjual, produk apa diprioritaskan, dan pembeli siapa dijaga</a:t>
            </a:r>
            <a:endParaRPr lang="en-US" sz="2400" dirty="0"/>
          </a:p>
        </p:txBody>
      </p:sp>
      <p:sp>
        <p:nvSpPr>
          <p:cNvPr id="5" name="Text 3"/>
          <p:cNvSpPr/>
          <p:nvPr/>
        </p:nvSpPr>
        <p:spPr>
          <a:xfrm>
            <a:off x="11323015" y="320040"/>
            <a:ext cx="365760" cy="274320"/>
          </a:xfrm>
          <a:prstGeom prst="rect">
            <a:avLst/>
          </a:prstGeom>
          <a:noFill/>
          <a:ln/>
        </p:spPr>
        <p:txBody>
          <a:bodyPr wrap="square" lIns="0" tIns="0" rIns="0" bIns="0" rtlCol="0" anchor="t"/>
          <a:lstStyle/>
          <a:p>
            <a:pPr algn="r" indent="0" marL="0">
              <a:buNone/>
            </a:pPr>
            <a:r>
              <a:rPr lang="en-US" sz="1100" dirty="0">
                <a:solidFill>
                  <a:srgbClr val="6C757D"/>
                </a:solidFill>
                <a:latin typeface="Calibri" pitchFamily="34" charset="0"/>
                <a:ea typeface="Calibri" pitchFamily="34" charset="-122"/>
                <a:cs typeface="Calibri" pitchFamily="34" charset="-120"/>
              </a:rPr>
              <a:t>3</a:t>
            </a:r>
            <a:endParaRPr lang="en-US" sz="1100" dirty="0"/>
          </a:p>
        </p:txBody>
      </p:sp>
      <p:sp>
        <p:nvSpPr>
          <p:cNvPr id="6" name="Text 4"/>
          <p:cNvSpPr/>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6C757D"/>
                </a:solidFill>
                <a:latin typeface="Calibri" pitchFamily="34" charset="0"/>
                <a:ea typeface="Calibri" pitchFamily="34" charset="-122"/>
                <a:cs typeface="Calibri" pitchFamily="34" charset="-120"/>
              </a:rPr>
              <a:t>Pemilihan KPI</a:t>
            </a:r>
            <a:endParaRPr lang="en-US" sz="1000" dirty="0"/>
          </a:p>
        </p:txBody>
      </p:sp>
      <p:sp>
        <p:nvSpPr>
          <p:cNvPr id="8" name="Shape 5"/>
          <p:cNvSpPr/>
          <p:nvPr/>
        </p:nvSpPr>
        <p:spPr>
          <a:xfrm>
            <a:off x="548640" y="1325880"/>
            <a:ext cx="2036003" cy="4069080"/>
          </a:xfrm>
          <a:prstGeom prst="roundRect">
            <a:avLst>
              <a:gd name="adj" fmla="val 3593"/>
            </a:avLst>
          </a:prstGeom>
          <a:solidFill>
            <a:srgbClr val="EAF3EE"/>
          </a:solidFill>
          <a:ln/>
        </p:spPr>
      </p:sp>
      <p:sp>
        <p:nvSpPr>
          <p:cNvPr id="9" name="Shape 6"/>
          <p:cNvSpPr/>
          <p:nvPr/>
        </p:nvSpPr>
        <p:spPr>
          <a:xfrm>
            <a:off x="731520" y="1527048"/>
            <a:ext cx="457200" cy="457200"/>
          </a:xfrm>
          <a:prstGeom prst="ellipse">
            <a:avLst/>
          </a:prstGeom>
          <a:solidFill>
            <a:srgbClr val="1B4332"/>
          </a:solidFill>
          <a:ln/>
        </p:spPr>
      </p:sp>
      <p:sp>
        <p:nvSpPr>
          <p:cNvPr id="10" name="Text 7"/>
          <p:cNvSpPr/>
          <p:nvPr/>
        </p:nvSpPr>
        <p:spPr>
          <a:xfrm>
            <a:off x="731520" y="15270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1" name="Text 8"/>
          <p:cNvSpPr/>
          <p:nvPr/>
        </p:nvSpPr>
        <p:spPr>
          <a:xfrm>
            <a:off x="1325880" y="1600200"/>
            <a:ext cx="1121603" cy="320040"/>
          </a:xfrm>
          <a:prstGeom prst="rect">
            <a:avLst/>
          </a:prstGeom>
          <a:noFill/>
          <a:ln/>
        </p:spPr>
        <p:txBody>
          <a:bodyPr wrap="square" lIns="0" tIns="0" rIns="0" bIns="0" rtlCol="0" anchor="t"/>
          <a:lstStyle/>
          <a:p>
            <a:pPr indent="0" marL="0">
              <a:buNone/>
            </a:pPr>
            <a:r>
              <a:rPr lang="en-US" sz="1300" b="1" dirty="0">
                <a:solidFill>
                  <a:srgbClr val="6C757D"/>
                </a:solidFill>
                <a:latin typeface="Calibri" pitchFamily="34" charset="0"/>
                <a:ea typeface="Calibri" pitchFamily="34" charset="-122"/>
                <a:cs typeface="Calibri" pitchFamily="34" charset="-120"/>
              </a:rPr>
              <a:t>KPI 1</a:t>
            </a:r>
            <a:endParaRPr lang="en-US" sz="1300" dirty="0"/>
          </a:p>
        </p:txBody>
      </p:sp>
      <p:sp>
        <p:nvSpPr>
          <p:cNvPr id="12" name="Text 9"/>
          <p:cNvSpPr/>
          <p:nvPr/>
        </p:nvSpPr>
        <p:spPr>
          <a:xfrm>
            <a:off x="731520" y="2103120"/>
            <a:ext cx="1670243" cy="685800"/>
          </a:xfrm>
          <a:prstGeom prst="rect">
            <a:avLst/>
          </a:prstGeom>
          <a:noFill/>
          <a:ln/>
        </p:spPr>
        <p:txBody>
          <a:bodyPr wrap="square" lIns="0" tIns="0" rIns="0" bIns="0" rtlCol="0" anchor="t"/>
          <a:lstStyle/>
          <a:p>
            <a:pPr indent="0" marL="0">
              <a:buNone/>
            </a:pPr>
            <a:r>
              <a:rPr lang="en-US" sz="1700" b="1" dirty="0">
                <a:solidFill>
                  <a:srgbClr val="1B4332"/>
                </a:solidFill>
                <a:latin typeface="Cambria" pitchFamily="34" charset="0"/>
                <a:ea typeface="Cambria" pitchFamily="34" charset="-122"/>
                <a:cs typeface="Cambria" pitchFamily="34" charset="-120"/>
              </a:rPr>
              <a:t>Pendapatan per minggu</a:t>
            </a:r>
            <a:endParaRPr lang="en-US" sz="1700" dirty="0"/>
          </a:p>
        </p:txBody>
      </p:sp>
      <p:sp>
        <p:nvSpPr>
          <p:cNvPr id="13" name="Text 10"/>
          <p:cNvSpPr/>
          <p:nvPr/>
        </p:nvSpPr>
        <p:spPr>
          <a:xfrm>
            <a:off x="731520" y="2880360"/>
            <a:ext cx="1670243" cy="1737360"/>
          </a:xfrm>
          <a:prstGeom prst="rect">
            <a:avLst/>
          </a:prstGeom>
          <a:noFill/>
          <a:ln/>
        </p:spPr>
        <p:txBody>
          <a:bodyPr wrap="square" lIns="0" tIns="0" rIns="0" bIns="0" rtlCol="0" anchor="t"/>
          <a:lstStyle/>
          <a:p>
            <a:pPr indent="0" marL="0">
              <a:buNone/>
            </a:pPr>
            <a:r>
              <a:rPr lang="en-US" sz="1300" b="1" dirty="0">
                <a:solidFill>
                  <a:srgbClr val="2D6A4F"/>
                </a:solidFill>
                <a:latin typeface="Calibri" pitchFamily="34" charset="0"/>
                <a:ea typeface="Calibri" pitchFamily="34" charset="-122"/>
                <a:cs typeface="Calibri" pitchFamily="34" charset="-120"/>
              </a:rPr>
              <a:t>Pertanyaan</a:t>
            </a:r>
            <a:endParaRPr lang="en-US" sz="1300" dirty="0"/>
          </a:p>
          <a:p>
            <a:pPr indent="0" marL="0">
              <a:buNone/>
            </a:pPr>
            <a:r>
              <a:rPr lang="en-US" sz="1300" i="1" dirty="0">
                <a:solidFill>
                  <a:srgbClr val="212529"/>
                </a:solidFill>
                <a:latin typeface="Calibri" pitchFamily="34" charset="0"/>
                <a:ea typeface="Calibri" pitchFamily="34" charset="-122"/>
                <a:cs typeface="Calibri" pitchFamily="34" charset="-120"/>
              </a:rPr>
              <a:t>Berapa pendapatan setiap minggu?</a:t>
            </a:r>
            <a:endParaRPr lang="en-US" sz="1300" dirty="0"/>
          </a:p>
          <a:p>
            <a:pPr indent="0" marL="0">
              <a:buNone/>
            </a:pPr>
            <a:r>
              <a:rPr lang="en-US" sz="600" dirty="0">
                <a:solidFill>
                  <a:srgbClr val="212529"/>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2D6A4F"/>
                </a:solidFill>
                <a:latin typeface="Calibri" pitchFamily="34" charset="0"/>
                <a:ea typeface="Calibri" pitchFamily="34" charset="-122"/>
                <a:cs typeface="Calibri" pitchFamily="34" charset="-120"/>
              </a:rPr>
              <a:t>Alasan</a:t>
            </a:r>
            <a:endParaRPr lang="en-US" sz="1300" dirty="0"/>
          </a:p>
          <a:p>
            <a:pPr indent="0" marL="0">
              <a:buNone/>
            </a:pPr>
            <a:r>
              <a:rPr lang="en-US" sz="1300" dirty="0">
                <a:solidFill>
                  <a:srgbClr val="212529"/>
                </a:solidFill>
                <a:latin typeface="Calibri" pitchFamily="34" charset="0"/>
                <a:ea typeface="Calibri" pitchFamily="34" charset="-122"/>
                <a:cs typeface="Calibri" pitchFamily="34" charset="-120"/>
              </a:rPr>
              <a:t>Mendeteksi minggu panen raya dan arus kas.</a:t>
            </a:r>
            <a:endParaRPr lang="en-US" sz="1300" dirty="0"/>
          </a:p>
        </p:txBody>
      </p:sp>
      <p:sp>
        <p:nvSpPr>
          <p:cNvPr id="14" name="Shape 11"/>
          <p:cNvSpPr/>
          <p:nvPr/>
        </p:nvSpPr>
        <p:spPr>
          <a:xfrm>
            <a:off x="685800" y="4681728"/>
            <a:ext cx="1761683" cy="548640"/>
          </a:xfrm>
          <a:prstGeom prst="roundRect">
            <a:avLst>
              <a:gd name="adj" fmla="val 10000"/>
            </a:avLst>
          </a:prstGeom>
          <a:solidFill>
            <a:srgbClr val="FFFFFF"/>
          </a:solidFill>
          <a:ln/>
        </p:spPr>
      </p:sp>
      <p:sp>
        <p:nvSpPr>
          <p:cNvPr id="15" name="Text 12"/>
          <p:cNvSpPr/>
          <p:nvPr/>
        </p:nvSpPr>
        <p:spPr>
          <a:xfrm>
            <a:off x="777240" y="4681728"/>
            <a:ext cx="1578803" cy="54864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Keputusan: </a:t>
            </a:r>
            <a:pPr indent="0" marL="0">
              <a:buNone/>
            </a:pPr>
            <a:r>
              <a:rPr lang="en-US" sz="1300" dirty="0">
                <a:solidFill>
                  <a:srgbClr val="1B4332"/>
                </a:solidFill>
                <a:latin typeface="Calibri" pitchFamily="34" charset="0"/>
                <a:ea typeface="Calibri" pitchFamily="34" charset="-122"/>
                <a:cs typeface="Calibri" pitchFamily="34" charset="-120"/>
              </a:rPr>
              <a:t>Jadwal tanam &amp; logistik</a:t>
            </a:r>
            <a:endParaRPr lang="en-US" sz="1300" dirty="0"/>
          </a:p>
        </p:txBody>
      </p:sp>
      <p:sp>
        <p:nvSpPr>
          <p:cNvPr id="16" name="Shape 13"/>
          <p:cNvSpPr/>
          <p:nvPr/>
        </p:nvSpPr>
        <p:spPr>
          <a:xfrm>
            <a:off x="2813243" y="1325880"/>
            <a:ext cx="2036003" cy="4069080"/>
          </a:xfrm>
          <a:prstGeom prst="roundRect">
            <a:avLst>
              <a:gd name="adj" fmla="val 3593"/>
            </a:avLst>
          </a:prstGeom>
          <a:solidFill>
            <a:srgbClr val="EAF3EE"/>
          </a:solidFill>
          <a:ln/>
        </p:spPr>
      </p:sp>
      <p:sp>
        <p:nvSpPr>
          <p:cNvPr id="17" name="Shape 14"/>
          <p:cNvSpPr/>
          <p:nvPr/>
        </p:nvSpPr>
        <p:spPr>
          <a:xfrm>
            <a:off x="2996123" y="1527048"/>
            <a:ext cx="457200" cy="457200"/>
          </a:xfrm>
          <a:prstGeom prst="ellipse">
            <a:avLst/>
          </a:prstGeom>
          <a:solidFill>
            <a:srgbClr val="1B4332"/>
          </a:solidFill>
          <a:ln/>
        </p:spPr>
      </p:sp>
      <p:sp>
        <p:nvSpPr>
          <p:cNvPr id="18" name="Text 15"/>
          <p:cNvSpPr/>
          <p:nvPr/>
        </p:nvSpPr>
        <p:spPr>
          <a:xfrm>
            <a:off x="2996123" y="15270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9" name="Text 16"/>
          <p:cNvSpPr/>
          <p:nvPr/>
        </p:nvSpPr>
        <p:spPr>
          <a:xfrm>
            <a:off x="3590483" y="1600200"/>
            <a:ext cx="1121603" cy="320040"/>
          </a:xfrm>
          <a:prstGeom prst="rect">
            <a:avLst/>
          </a:prstGeom>
          <a:noFill/>
          <a:ln/>
        </p:spPr>
        <p:txBody>
          <a:bodyPr wrap="square" lIns="0" tIns="0" rIns="0" bIns="0" rtlCol="0" anchor="t"/>
          <a:lstStyle/>
          <a:p>
            <a:pPr indent="0" marL="0">
              <a:buNone/>
            </a:pPr>
            <a:r>
              <a:rPr lang="en-US" sz="1300" b="1" dirty="0">
                <a:solidFill>
                  <a:srgbClr val="6C757D"/>
                </a:solidFill>
                <a:latin typeface="Calibri" pitchFamily="34" charset="0"/>
                <a:ea typeface="Calibri" pitchFamily="34" charset="-122"/>
                <a:cs typeface="Calibri" pitchFamily="34" charset="-120"/>
              </a:rPr>
              <a:t>KPI 2</a:t>
            </a:r>
            <a:endParaRPr lang="en-US" sz="1300" dirty="0"/>
          </a:p>
        </p:txBody>
      </p:sp>
      <p:sp>
        <p:nvSpPr>
          <p:cNvPr id="20" name="Text 17"/>
          <p:cNvSpPr/>
          <p:nvPr/>
        </p:nvSpPr>
        <p:spPr>
          <a:xfrm>
            <a:off x="2996123" y="2103120"/>
            <a:ext cx="1670243" cy="685800"/>
          </a:xfrm>
          <a:prstGeom prst="rect">
            <a:avLst/>
          </a:prstGeom>
          <a:noFill/>
          <a:ln/>
        </p:spPr>
        <p:txBody>
          <a:bodyPr wrap="square" lIns="0" tIns="0" rIns="0" bIns="0" rtlCol="0" anchor="t"/>
          <a:lstStyle/>
          <a:p>
            <a:pPr indent="0" marL="0">
              <a:buNone/>
            </a:pPr>
            <a:r>
              <a:rPr lang="en-US" sz="1700" b="1" dirty="0">
                <a:solidFill>
                  <a:srgbClr val="1B4332"/>
                </a:solidFill>
                <a:latin typeface="Cambria" pitchFamily="34" charset="0"/>
                <a:ea typeface="Cambria" pitchFamily="34" charset="-122"/>
                <a:cs typeface="Cambria" pitchFamily="34" charset="-120"/>
              </a:rPr>
              <a:t>Pendapatan per bulan</a:t>
            </a:r>
            <a:endParaRPr lang="en-US" sz="1700" dirty="0"/>
          </a:p>
        </p:txBody>
      </p:sp>
      <p:sp>
        <p:nvSpPr>
          <p:cNvPr id="21" name="Text 18"/>
          <p:cNvSpPr/>
          <p:nvPr/>
        </p:nvSpPr>
        <p:spPr>
          <a:xfrm>
            <a:off x="2996123" y="2880360"/>
            <a:ext cx="1670243" cy="1737360"/>
          </a:xfrm>
          <a:prstGeom prst="rect">
            <a:avLst/>
          </a:prstGeom>
          <a:noFill/>
          <a:ln/>
        </p:spPr>
        <p:txBody>
          <a:bodyPr wrap="square" lIns="0" tIns="0" rIns="0" bIns="0" rtlCol="0" anchor="t"/>
          <a:lstStyle/>
          <a:p>
            <a:pPr indent="0" marL="0">
              <a:buNone/>
            </a:pPr>
            <a:r>
              <a:rPr lang="en-US" sz="1300" b="1" dirty="0">
                <a:solidFill>
                  <a:srgbClr val="2D6A4F"/>
                </a:solidFill>
                <a:latin typeface="Calibri" pitchFamily="34" charset="0"/>
                <a:ea typeface="Calibri" pitchFamily="34" charset="-122"/>
                <a:cs typeface="Calibri" pitchFamily="34" charset="-120"/>
              </a:rPr>
              <a:t>Pertanyaan</a:t>
            </a:r>
            <a:endParaRPr lang="en-US" sz="1300" dirty="0"/>
          </a:p>
          <a:p>
            <a:pPr indent="0" marL="0">
              <a:buNone/>
            </a:pPr>
            <a:r>
              <a:rPr lang="en-US" sz="1300" i="1" dirty="0">
                <a:solidFill>
                  <a:srgbClr val="212529"/>
                </a:solidFill>
                <a:latin typeface="Calibri" pitchFamily="34" charset="0"/>
                <a:ea typeface="Calibri" pitchFamily="34" charset="-122"/>
                <a:cs typeface="Calibri" pitchFamily="34" charset="-120"/>
              </a:rPr>
              <a:t>Berapa pendapatan setiap bulan?</a:t>
            </a:r>
            <a:endParaRPr lang="en-US" sz="1300" dirty="0"/>
          </a:p>
          <a:p>
            <a:pPr indent="0" marL="0">
              <a:buNone/>
            </a:pPr>
            <a:r>
              <a:rPr lang="en-US" sz="600" dirty="0">
                <a:solidFill>
                  <a:srgbClr val="212529"/>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2D6A4F"/>
                </a:solidFill>
                <a:latin typeface="Calibri" pitchFamily="34" charset="0"/>
                <a:ea typeface="Calibri" pitchFamily="34" charset="-122"/>
                <a:cs typeface="Calibri" pitchFamily="34" charset="-120"/>
              </a:rPr>
              <a:t>Alasan</a:t>
            </a:r>
            <a:endParaRPr lang="en-US" sz="1300" dirty="0"/>
          </a:p>
          <a:p>
            <a:pPr indent="0" marL="0">
              <a:buNone/>
            </a:pPr>
            <a:r>
              <a:rPr lang="en-US" sz="1300" dirty="0">
                <a:solidFill>
                  <a:srgbClr val="212529"/>
                </a:solidFill>
                <a:latin typeface="Calibri" pitchFamily="34" charset="0"/>
                <a:ea typeface="Calibri" pitchFamily="34" charset="-122"/>
                <a:cs typeface="Calibri" pitchFamily="34" charset="-120"/>
              </a:rPr>
              <a:t>Membandingkan capaian antarbulan.</a:t>
            </a:r>
            <a:endParaRPr lang="en-US" sz="1300" dirty="0"/>
          </a:p>
        </p:txBody>
      </p:sp>
      <p:sp>
        <p:nvSpPr>
          <p:cNvPr id="22" name="Shape 19"/>
          <p:cNvSpPr/>
          <p:nvPr/>
        </p:nvSpPr>
        <p:spPr>
          <a:xfrm>
            <a:off x="2950403" y="4681728"/>
            <a:ext cx="1761683" cy="548640"/>
          </a:xfrm>
          <a:prstGeom prst="roundRect">
            <a:avLst>
              <a:gd name="adj" fmla="val 10000"/>
            </a:avLst>
          </a:prstGeom>
          <a:solidFill>
            <a:srgbClr val="FFFFFF"/>
          </a:solidFill>
          <a:ln/>
        </p:spPr>
      </p:sp>
      <p:sp>
        <p:nvSpPr>
          <p:cNvPr id="23" name="Text 20"/>
          <p:cNvSpPr/>
          <p:nvPr/>
        </p:nvSpPr>
        <p:spPr>
          <a:xfrm>
            <a:off x="3041843" y="4681728"/>
            <a:ext cx="1578803" cy="54864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Keputusan: </a:t>
            </a:r>
            <a:pPr indent="0" marL="0">
              <a:buNone/>
            </a:pPr>
            <a:r>
              <a:rPr lang="en-US" sz="1300" dirty="0">
                <a:solidFill>
                  <a:srgbClr val="1B4332"/>
                </a:solidFill>
                <a:latin typeface="Calibri" pitchFamily="34" charset="0"/>
                <a:ea typeface="Calibri" pitchFamily="34" charset="-122"/>
                <a:cs typeface="Calibri" pitchFamily="34" charset="-120"/>
              </a:rPr>
              <a:t>Evaluasi target berkala</a:t>
            </a:r>
            <a:endParaRPr lang="en-US" sz="1300" dirty="0"/>
          </a:p>
        </p:txBody>
      </p:sp>
      <p:sp>
        <p:nvSpPr>
          <p:cNvPr id="24" name="Shape 21"/>
          <p:cNvSpPr/>
          <p:nvPr/>
        </p:nvSpPr>
        <p:spPr>
          <a:xfrm>
            <a:off x="5077846" y="1325880"/>
            <a:ext cx="2036003" cy="4069080"/>
          </a:xfrm>
          <a:prstGeom prst="roundRect">
            <a:avLst>
              <a:gd name="adj" fmla="val 3593"/>
            </a:avLst>
          </a:prstGeom>
          <a:solidFill>
            <a:srgbClr val="EAF3EE"/>
          </a:solidFill>
          <a:ln/>
        </p:spPr>
      </p:sp>
      <p:sp>
        <p:nvSpPr>
          <p:cNvPr id="25" name="Shape 22"/>
          <p:cNvSpPr/>
          <p:nvPr/>
        </p:nvSpPr>
        <p:spPr>
          <a:xfrm>
            <a:off x="5260726" y="1527048"/>
            <a:ext cx="457200" cy="457200"/>
          </a:xfrm>
          <a:prstGeom prst="ellipse">
            <a:avLst/>
          </a:prstGeom>
          <a:solidFill>
            <a:srgbClr val="2D6A4F"/>
          </a:solidFill>
          <a:ln/>
        </p:spPr>
      </p:sp>
      <p:sp>
        <p:nvSpPr>
          <p:cNvPr id="26" name="Text 23"/>
          <p:cNvSpPr/>
          <p:nvPr/>
        </p:nvSpPr>
        <p:spPr>
          <a:xfrm>
            <a:off x="5260726" y="15270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7" name="Text 24"/>
          <p:cNvSpPr/>
          <p:nvPr/>
        </p:nvSpPr>
        <p:spPr>
          <a:xfrm>
            <a:off x="5855086" y="1600200"/>
            <a:ext cx="1121603" cy="320040"/>
          </a:xfrm>
          <a:prstGeom prst="rect">
            <a:avLst/>
          </a:prstGeom>
          <a:noFill/>
          <a:ln/>
        </p:spPr>
        <p:txBody>
          <a:bodyPr wrap="square" lIns="0" tIns="0" rIns="0" bIns="0" rtlCol="0" anchor="t"/>
          <a:lstStyle/>
          <a:p>
            <a:pPr indent="0" marL="0">
              <a:buNone/>
            </a:pPr>
            <a:r>
              <a:rPr lang="en-US" sz="1300" b="1" dirty="0">
                <a:solidFill>
                  <a:srgbClr val="6C757D"/>
                </a:solidFill>
                <a:latin typeface="Calibri" pitchFamily="34" charset="0"/>
                <a:ea typeface="Calibri" pitchFamily="34" charset="-122"/>
                <a:cs typeface="Calibri" pitchFamily="34" charset="-120"/>
              </a:rPr>
              <a:t>KPI 3</a:t>
            </a:r>
            <a:endParaRPr lang="en-US" sz="1300" dirty="0"/>
          </a:p>
        </p:txBody>
      </p:sp>
      <p:sp>
        <p:nvSpPr>
          <p:cNvPr id="28" name="Text 25"/>
          <p:cNvSpPr/>
          <p:nvPr/>
        </p:nvSpPr>
        <p:spPr>
          <a:xfrm>
            <a:off x="5260726" y="2103120"/>
            <a:ext cx="1670243" cy="685800"/>
          </a:xfrm>
          <a:prstGeom prst="rect">
            <a:avLst/>
          </a:prstGeom>
          <a:noFill/>
          <a:ln/>
        </p:spPr>
        <p:txBody>
          <a:bodyPr wrap="square" lIns="0" tIns="0" rIns="0" bIns="0" rtlCol="0" anchor="t"/>
          <a:lstStyle/>
          <a:p>
            <a:pPr indent="0" marL="0">
              <a:buNone/>
            </a:pPr>
            <a:r>
              <a:rPr lang="en-US" sz="1700" b="1" dirty="0">
                <a:solidFill>
                  <a:srgbClr val="1B4332"/>
                </a:solidFill>
                <a:latin typeface="Cambria" pitchFamily="34" charset="0"/>
                <a:ea typeface="Cambria" pitchFamily="34" charset="-122"/>
                <a:cs typeface="Cambria" pitchFamily="34" charset="-120"/>
              </a:rPr>
              <a:t>Produk omzet terbesar</a:t>
            </a:r>
            <a:endParaRPr lang="en-US" sz="1700" dirty="0"/>
          </a:p>
        </p:txBody>
      </p:sp>
      <p:sp>
        <p:nvSpPr>
          <p:cNvPr id="29" name="Text 26"/>
          <p:cNvSpPr/>
          <p:nvPr/>
        </p:nvSpPr>
        <p:spPr>
          <a:xfrm>
            <a:off x="5260726" y="2880360"/>
            <a:ext cx="1670243" cy="1737360"/>
          </a:xfrm>
          <a:prstGeom prst="rect">
            <a:avLst/>
          </a:prstGeom>
          <a:noFill/>
          <a:ln/>
        </p:spPr>
        <p:txBody>
          <a:bodyPr wrap="square" lIns="0" tIns="0" rIns="0" bIns="0" rtlCol="0" anchor="t"/>
          <a:lstStyle/>
          <a:p>
            <a:pPr indent="0" marL="0">
              <a:buNone/>
            </a:pPr>
            <a:r>
              <a:rPr lang="en-US" sz="1300" b="1" dirty="0">
                <a:solidFill>
                  <a:srgbClr val="2D6A4F"/>
                </a:solidFill>
                <a:latin typeface="Calibri" pitchFamily="34" charset="0"/>
                <a:ea typeface="Calibri" pitchFamily="34" charset="-122"/>
                <a:cs typeface="Calibri" pitchFamily="34" charset="-120"/>
              </a:rPr>
              <a:t>Pertanyaan</a:t>
            </a:r>
            <a:endParaRPr lang="en-US" sz="1300" dirty="0"/>
          </a:p>
          <a:p>
            <a:pPr indent="0" marL="0">
              <a:buNone/>
            </a:pPr>
            <a:r>
              <a:rPr lang="en-US" sz="1300" i="1" dirty="0">
                <a:solidFill>
                  <a:srgbClr val="212529"/>
                </a:solidFill>
                <a:latin typeface="Calibri" pitchFamily="34" charset="0"/>
                <a:ea typeface="Calibri" pitchFamily="34" charset="-122"/>
                <a:cs typeface="Calibri" pitchFamily="34" charset="-120"/>
              </a:rPr>
              <a:t>Produk apa yang memberi pendapatan terbesar?</a:t>
            </a:r>
            <a:endParaRPr lang="en-US" sz="1300" dirty="0"/>
          </a:p>
          <a:p>
            <a:pPr indent="0" marL="0">
              <a:buNone/>
            </a:pPr>
            <a:r>
              <a:rPr lang="en-US" sz="600" dirty="0">
                <a:solidFill>
                  <a:srgbClr val="212529"/>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2D6A4F"/>
                </a:solidFill>
                <a:latin typeface="Calibri" pitchFamily="34" charset="0"/>
                <a:ea typeface="Calibri" pitchFamily="34" charset="-122"/>
                <a:cs typeface="Calibri" pitchFamily="34" charset="-120"/>
              </a:rPr>
              <a:t>Alasan</a:t>
            </a:r>
            <a:endParaRPr lang="en-US" sz="1300" dirty="0"/>
          </a:p>
          <a:p>
            <a:pPr indent="0" marL="0">
              <a:buNone/>
            </a:pPr>
            <a:r>
              <a:rPr lang="en-US" sz="1300" dirty="0">
                <a:solidFill>
                  <a:srgbClr val="212529"/>
                </a:solidFill>
                <a:latin typeface="Calibri" pitchFamily="34" charset="0"/>
                <a:ea typeface="Calibri" pitchFamily="34" charset="-122"/>
                <a:cs typeface="Calibri" pitchFamily="34" charset="-120"/>
              </a:rPr>
              <a:t>Menemukan komoditas tulang punggung omzet.</a:t>
            </a:r>
            <a:endParaRPr lang="en-US" sz="1300" dirty="0"/>
          </a:p>
        </p:txBody>
      </p:sp>
      <p:sp>
        <p:nvSpPr>
          <p:cNvPr id="30" name="Shape 27"/>
          <p:cNvSpPr/>
          <p:nvPr/>
        </p:nvSpPr>
        <p:spPr>
          <a:xfrm>
            <a:off x="5215006" y="4681728"/>
            <a:ext cx="1761683" cy="548640"/>
          </a:xfrm>
          <a:prstGeom prst="roundRect">
            <a:avLst>
              <a:gd name="adj" fmla="val 10000"/>
            </a:avLst>
          </a:prstGeom>
          <a:solidFill>
            <a:srgbClr val="FFFFFF"/>
          </a:solidFill>
          <a:ln/>
        </p:spPr>
      </p:sp>
      <p:sp>
        <p:nvSpPr>
          <p:cNvPr id="31" name="Text 28"/>
          <p:cNvSpPr/>
          <p:nvPr/>
        </p:nvSpPr>
        <p:spPr>
          <a:xfrm>
            <a:off x="5306446" y="4681728"/>
            <a:ext cx="1578803" cy="54864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Keputusan: </a:t>
            </a:r>
            <a:pPr indent="0" marL="0">
              <a:buNone/>
            </a:pPr>
            <a:r>
              <a:rPr lang="en-US" sz="1300" dirty="0">
                <a:solidFill>
                  <a:srgbClr val="1B4332"/>
                </a:solidFill>
                <a:latin typeface="Calibri" pitchFamily="34" charset="0"/>
                <a:ea typeface="Calibri" pitchFamily="34" charset="-122"/>
                <a:cs typeface="Calibri" pitchFamily="34" charset="-120"/>
              </a:rPr>
              <a:t>Prioritas lahan &amp; perawatan</a:t>
            </a:r>
            <a:endParaRPr lang="en-US" sz="1300" dirty="0"/>
          </a:p>
        </p:txBody>
      </p:sp>
      <p:sp>
        <p:nvSpPr>
          <p:cNvPr id="32" name="Shape 29"/>
          <p:cNvSpPr/>
          <p:nvPr/>
        </p:nvSpPr>
        <p:spPr>
          <a:xfrm>
            <a:off x="7342449" y="1325880"/>
            <a:ext cx="2036003" cy="4069080"/>
          </a:xfrm>
          <a:prstGeom prst="roundRect">
            <a:avLst>
              <a:gd name="adj" fmla="val 3593"/>
            </a:avLst>
          </a:prstGeom>
          <a:solidFill>
            <a:srgbClr val="EAF3EE"/>
          </a:solidFill>
          <a:ln/>
        </p:spPr>
      </p:sp>
      <p:sp>
        <p:nvSpPr>
          <p:cNvPr id="33" name="Shape 30"/>
          <p:cNvSpPr/>
          <p:nvPr/>
        </p:nvSpPr>
        <p:spPr>
          <a:xfrm>
            <a:off x="7525329" y="1527048"/>
            <a:ext cx="457200" cy="457200"/>
          </a:xfrm>
          <a:prstGeom prst="ellipse">
            <a:avLst/>
          </a:prstGeom>
          <a:solidFill>
            <a:srgbClr val="2D6A4F"/>
          </a:solidFill>
          <a:ln/>
        </p:spPr>
      </p:sp>
      <p:sp>
        <p:nvSpPr>
          <p:cNvPr id="34" name="Text 31"/>
          <p:cNvSpPr/>
          <p:nvPr/>
        </p:nvSpPr>
        <p:spPr>
          <a:xfrm>
            <a:off x="7525329" y="15270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35" name="Text 32"/>
          <p:cNvSpPr/>
          <p:nvPr/>
        </p:nvSpPr>
        <p:spPr>
          <a:xfrm>
            <a:off x="8119689" y="1600200"/>
            <a:ext cx="1121603" cy="320040"/>
          </a:xfrm>
          <a:prstGeom prst="rect">
            <a:avLst/>
          </a:prstGeom>
          <a:noFill/>
          <a:ln/>
        </p:spPr>
        <p:txBody>
          <a:bodyPr wrap="square" lIns="0" tIns="0" rIns="0" bIns="0" rtlCol="0" anchor="t"/>
          <a:lstStyle/>
          <a:p>
            <a:pPr indent="0" marL="0">
              <a:buNone/>
            </a:pPr>
            <a:r>
              <a:rPr lang="en-US" sz="1300" b="1" dirty="0">
                <a:solidFill>
                  <a:srgbClr val="6C757D"/>
                </a:solidFill>
                <a:latin typeface="Calibri" pitchFamily="34" charset="0"/>
                <a:ea typeface="Calibri" pitchFamily="34" charset="-122"/>
                <a:cs typeface="Calibri" pitchFamily="34" charset="-120"/>
              </a:rPr>
              <a:t>KPI 4</a:t>
            </a:r>
            <a:endParaRPr lang="en-US" sz="1300" dirty="0"/>
          </a:p>
        </p:txBody>
      </p:sp>
      <p:sp>
        <p:nvSpPr>
          <p:cNvPr id="36" name="Text 33"/>
          <p:cNvSpPr/>
          <p:nvPr/>
        </p:nvSpPr>
        <p:spPr>
          <a:xfrm>
            <a:off x="7525329" y="2103120"/>
            <a:ext cx="1670243" cy="685800"/>
          </a:xfrm>
          <a:prstGeom prst="rect">
            <a:avLst/>
          </a:prstGeom>
          <a:noFill/>
          <a:ln/>
        </p:spPr>
        <p:txBody>
          <a:bodyPr wrap="square" lIns="0" tIns="0" rIns="0" bIns="0" rtlCol="0" anchor="t"/>
          <a:lstStyle/>
          <a:p>
            <a:pPr indent="0" marL="0">
              <a:buNone/>
            </a:pPr>
            <a:r>
              <a:rPr lang="en-US" sz="1700" b="1" dirty="0">
                <a:solidFill>
                  <a:srgbClr val="1B4332"/>
                </a:solidFill>
                <a:latin typeface="Cambria" pitchFamily="34" charset="0"/>
                <a:ea typeface="Cambria" pitchFamily="34" charset="-122"/>
                <a:cs typeface="Cambria" pitchFamily="34" charset="-120"/>
              </a:rPr>
              <a:t>Produk terlaris (volume)</a:t>
            </a:r>
            <a:endParaRPr lang="en-US" sz="1700" dirty="0"/>
          </a:p>
        </p:txBody>
      </p:sp>
      <p:sp>
        <p:nvSpPr>
          <p:cNvPr id="37" name="Text 34"/>
          <p:cNvSpPr/>
          <p:nvPr/>
        </p:nvSpPr>
        <p:spPr>
          <a:xfrm>
            <a:off x="7525329" y="2880360"/>
            <a:ext cx="1670243" cy="1737360"/>
          </a:xfrm>
          <a:prstGeom prst="rect">
            <a:avLst/>
          </a:prstGeom>
          <a:noFill/>
          <a:ln/>
        </p:spPr>
        <p:txBody>
          <a:bodyPr wrap="square" lIns="0" tIns="0" rIns="0" bIns="0" rtlCol="0" anchor="t"/>
          <a:lstStyle/>
          <a:p>
            <a:pPr indent="0" marL="0">
              <a:buNone/>
            </a:pPr>
            <a:r>
              <a:rPr lang="en-US" sz="1300" b="1" dirty="0">
                <a:solidFill>
                  <a:srgbClr val="2D6A4F"/>
                </a:solidFill>
                <a:latin typeface="Calibri" pitchFamily="34" charset="0"/>
                <a:ea typeface="Calibri" pitchFamily="34" charset="-122"/>
                <a:cs typeface="Calibri" pitchFamily="34" charset="-120"/>
              </a:rPr>
              <a:t>Pertanyaan</a:t>
            </a:r>
            <a:endParaRPr lang="en-US" sz="1300" dirty="0"/>
          </a:p>
          <a:p>
            <a:pPr indent="0" marL="0">
              <a:buNone/>
            </a:pPr>
            <a:r>
              <a:rPr lang="en-US" sz="1300" i="1" dirty="0">
                <a:solidFill>
                  <a:srgbClr val="212529"/>
                </a:solidFill>
                <a:latin typeface="Calibri" pitchFamily="34" charset="0"/>
                <a:ea typeface="Calibri" pitchFamily="34" charset="-122"/>
                <a:cs typeface="Calibri" pitchFamily="34" charset="-120"/>
              </a:rPr>
              <a:t>Produk apa yang paling banyak terjual?</a:t>
            </a:r>
            <a:endParaRPr lang="en-US" sz="1300" dirty="0"/>
          </a:p>
          <a:p>
            <a:pPr indent="0" marL="0">
              <a:buNone/>
            </a:pPr>
            <a:r>
              <a:rPr lang="en-US" sz="600" dirty="0">
                <a:solidFill>
                  <a:srgbClr val="212529"/>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2D6A4F"/>
                </a:solidFill>
                <a:latin typeface="Calibri" pitchFamily="34" charset="0"/>
                <a:ea typeface="Calibri" pitchFamily="34" charset="-122"/>
                <a:cs typeface="Calibri" pitchFamily="34" charset="-120"/>
              </a:rPr>
              <a:t>Alasan</a:t>
            </a:r>
            <a:endParaRPr lang="en-US" sz="1300" dirty="0"/>
          </a:p>
          <a:p>
            <a:pPr indent="0" marL="0">
              <a:buNone/>
            </a:pPr>
            <a:r>
              <a:rPr lang="en-US" sz="1300" dirty="0">
                <a:solidFill>
                  <a:srgbClr val="212529"/>
                </a:solidFill>
                <a:latin typeface="Calibri" pitchFamily="34" charset="0"/>
                <a:ea typeface="Calibri" pitchFamily="34" charset="-122"/>
                <a:cs typeface="Calibri" pitchFamily="34" charset="-120"/>
              </a:rPr>
              <a:t>Mengukur serapan pasar per satuan.</a:t>
            </a:r>
            <a:endParaRPr lang="en-US" sz="1300" dirty="0"/>
          </a:p>
        </p:txBody>
      </p:sp>
      <p:sp>
        <p:nvSpPr>
          <p:cNvPr id="38" name="Shape 35"/>
          <p:cNvSpPr/>
          <p:nvPr/>
        </p:nvSpPr>
        <p:spPr>
          <a:xfrm>
            <a:off x="7479609" y="4681728"/>
            <a:ext cx="1761683" cy="548640"/>
          </a:xfrm>
          <a:prstGeom prst="roundRect">
            <a:avLst>
              <a:gd name="adj" fmla="val 10000"/>
            </a:avLst>
          </a:prstGeom>
          <a:solidFill>
            <a:srgbClr val="FFFFFF"/>
          </a:solidFill>
          <a:ln/>
        </p:spPr>
      </p:sp>
      <p:sp>
        <p:nvSpPr>
          <p:cNvPr id="39" name="Text 36"/>
          <p:cNvSpPr/>
          <p:nvPr/>
        </p:nvSpPr>
        <p:spPr>
          <a:xfrm>
            <a:off x="7571049" y="4681728"/>
            <a:ext cx="1578803" cy="54864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Keputusan: </a:t>
            </a:r>
            <a:pPr indent="0" marL="0">
              <a:buNone/>
            </a:pPr>
            <a:r>
              <a:rPr lang="en-US" sz="1300" dirty="0">
                <a:solidFill>
                  <a:srgbClr val="1B4332"/>
                </a:solidFill>
                <a:latin typeface="Calibri" pitchFamily="34" charset="0"/>
                <a:ea typeface="Calibri" pitchFamily="34" charset="-122"/>
                <a:cs typeface="Calibri" pitchFamily="34" charset="-120"/>
              </a:rPr>
              <a:t>Volume panen &amp; cegah busuk</a:t>
            </a:r>
            <a:endParaRPr lang="en-US" sz="1300" dirty="0"/>
          </a:p>
        </p:txBody>
      </p:sp>
      <p:sp>
        <p:nvSpPr>
          <p:cNvPr id="40" name="Shape 37"/>
          <p:cNvSpPr/>
          <p:nvPr/>
        </p:nvSpPr>
        <p:spPr>
          <a:xfrm>
            <a:off x="9607052" y="1325880"/>
            <a:ext cx="2036003" cy="4069080"/>
          </a:xfrm>
          <a:prstGeom prst="roundRect">
            <a:avLst>
              <a:gd name="adj" fmla="val 3593"/>
            </a:avLst>
          </a:prstGeom>
          <a:solidFill>
            <a:srgbClr val="EAF3EE"/>
          </a:solidFill>
          <a:ln/>
        </p:spPr>
      </p:sp>
      <p:sp>
        <p:nvSpPr>
          <p:cNvPr id="41" name="Shape 38"/>
          <p:cNvSpPr/>
          <p:nvPr/>
        </p:nvSpPr>
        <p:spPr>
          <a:xfrm>
            <a:off x="9789932" y="1527048"/>
            <a:ext cx="457200" cy="457200"/>
          </a:xfrm>
          <a:prstGeom prst="ellipse">
            <a:avLst/>
          </a:prstGeom>
          <a:solidFill>
            <a:srgbClr val="E09F3E"/>
          </a:solidFill>
          <a:ln/>
        </p:spPr>
      </p:sp>
      <p:sp>
        <p:nvSpPr>
          <p:cNvPr id="42" name="Text 39"/>
          <p:cNvSpPr/>
          <p:nvPr/>
        </p:nvSpPr>
        <p:spPr>
          <a:xfrm>
            <a:off x="9789932" y="15270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43" name="Text 40"/>
          <p:cNvSpPr/>
          <p:nvPr/>
        </p:nvSpPr>
        <p:spPr>
          <a:xfrm>
            <a:off x="10384292" y="1600200"/>
            <a:ext cx="1121603" cy="320040"/>
          </a:xfrm>
          <a:prstGeom prst="rect">
            <a:avLst/>
          </a:prstGeom>
          <a:noFill/>
          <a:ln/>
        </p:spPr>
        <p:txBody>
          <a:bodyPr wrap="square" lIns="0" tIns="0" rIns="0" bIns="0" rtlCol="0" anchor="t"/>
          <a:lstStyle/>
          <a:p>
            <a:pPr indent="0" marL="0">
              <a:buNone/>
            </a:pPr>
            <a:r>
              <a:rPr lang="en-US" sz="1300" b="1" dirty="0">
                <a:solidFill>
                  <a:srgbClr val="6C757D"/>
                </a:solidFill>
                <a:latin typeface="Calibri" pitchFamily="34" charset="0"/>
                <a:ea typeface="Calibri" pitchFamily="34" charset="-122"/>
                <a:cs typeface="Calibri" pitchFamily="34" charset="-120"/>
              </a:rPr>
              <a:t>KPI 5</a:t>
            </a:r>
            <a:endParaRPr lang="en-US" sz="1300" dirty="0"/>
          </a:p>
        </p:txBody>
      </p:sp>
      <p:sp>
        <p:nvSpPr>
          <p:cNvPr id="44" name="Text 41"/>
          <p:cNvSpPr/>
          <p:nvPr/>
        </p:nvSpPr>
        <p:spPr>
          <a:xfrm>
            <a:off x="9789932" y="2103120"/>
            <a:ext cx="1670243" cy="685800"/>
          </a:xfrm>
          <a:prstGeom prst="rect">
            <a:avLst/>
          </a:prstGeom>
          <a:noFill/>
          <a:ln/>
        </p:spPr>
        <p:txBody>
          <a:bodyPr wrap="square" lIns="0" tIns="0" rIns="0" bIns="0" rtlCol="0" anchor="t"/>
          <a:lstStyle/>
          <a:p>
            <a:pPr indent="0" marL="0">
              <a:buNone/>
            </a:pPr>
            <a:r>
              <a:rPr lang="en-US" sz="1700" b="1" dirty="0">
                <a:solidFill>
                  <a:srgbClr val="1B4332"/>
                </a:solidFill>
                <a:latin typeface="Cambria" pitchFamily="34" charset="0"/>
                <a:ea typeface="Cambria" pitchFamily="34" charset="-122"/>
                <a:cs typeface="Cambria" pitchFamily="34" charset="-120"/>
              </a:rPr>
              <a:t>Pembeli terbesar</a:t>
            </a:r>
            <a:endParaRPr lang="en-US" sz="1700" dirty="0"/>
          </a:p>
        </p:txBody>
      </p:sp>
      <p:sp>
        <p:nvSpPr>
          <p:cNvPr id="45" name="Text 42"/>
          <p:cNvSpPr/>
          <p:nvPr/>
        </p:nvSpPr>
        <p:spPr>
          <a:xfrm>
            <a:off x="9789932" y="2880360"/>
            <a:ext cx="1670243" cy="1737360"/>
          </a:xfrm>
          <a:prstGeom prst="rect">
            <a:avLst/>
          </a:prstGeom>
          <a:noFill/>
          <a:ln/>
        </p:spPr>
        <p:txBody>
          <a:bodyPr wrap="square" lIns="0" tIns="0" rIns="0" bIns="0" rtlCol="0" anchor="t"/>
          <a:lstStyle/>
          <a:p>
            <a:pPr indent="0" marL="0">
              <a:buNone/>
            </a:pPr>
            <a:r>
              <a:rPr lang="en-US" sz="1300" b="1" dirty="0">
                <a:solidFill>
                  <a:srgbClr val="2D6A4F"/>
                </a:solidFill>
                <a:latin typeface="Calibri" pitchFamily="34" charset="0"/>
                <a:ea typeface="Calibri" pitchFamily="34" charset="-122"/>
                <a:cs typeface="Calibri" pitchFamily="34" charset="-120"/>
              </a:rPr>
              <a:t>Pertanyaan</a:t>
            </a:r>
            <a:endParaRPr lang="en-US" sz="1300" dirty="0"/>
          </a:p>
          <a:p>
            <a:pPr indent="0" marL="0">
              <a:buNone/>
            </a:pPr>
            <a:r>
              <a:rPr lang="en-US" sz="1300" i="1" dirty="0">
                <a:solidFill>
                  <a:srgbClr val="212529"/>
                </a:solidFill>
                <a:latin typeface="Calibri" pitchFamily="34" charset="0"/>
                <a:ea typeface="Calibri" pitchFamily="34" charset="-122"/>
                <a:cs typeface="Calibri" pitchFamily="34" charset="-120"/>
              </a:rPr>
              <a:t>Siapa pembeli yang belanjanya terbanyak?</a:t>
            </a:r>
            <a:endParaRPr lang="en-US" sz="1300" dirty="0"/>
          </a:p>
          <a:p>
            <a:pPr indent="0" marL="0">
              <a:buNone/>
            </a:pPr>
            <a:r>
              <a:rPr lang="en-US" sz="600" dirty="0">
                <a:solidFill>
                  <a:srgbClr val="212529"/>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2D6A4F"/>
                </a:solidFill>
                <a:latin typeface="Calibri" pitchFamily="34" charset="0"/>
                <a:ea typeface="Calibri" pitchFamily="34" charset="-122"/>
                <a:cs typeface="Calibri" pitchFamily="34" charset="-120"/>
              </a:rPr>
              <a:t>Alasan</a:t>
            </a:r>
            <a:endParaRPr lang="en-US" sz="1300" dirty="0"/>
          </a:p>
          <a:p>
            <a:pPr indent="0" marL="0">
              <a:buNone/>
            </a:pPr>
            <a:r>
              <a:rPr lang="en-US" sz="1300" dirty="0">
                <a:solidFill>
                  <a:srgbClr val="212529"/>
                </a:solidFill>
                <a:latin typeface="Calibri" pitchFamily="34" charset="0"/>
                <a:ea typeface="Calibri" pitchFamily="34" charset="-122"/>
                <a:cs typeface="Calibri" pitchFamily="34" charset="-120"/>
              </a:rPr>
              <a:t>Memetakan pembeli kunci.</a:t>
            </a:r>
            <a:endParaRPr lang="en-US" sz="1300" dirty="0"/>
          </a:p>
        </p:txBody>
      </p:sp>
      <p:sp>
        <p:nvSpPr>
          <p:cNvPr id="46" name="Shape 43"/>
          <p:cNvSpPr/>
          <p:nvPr/>
        </p:nvSpPr>
        <p:spPr>
          <a:xfrm>
            <a:off x="9744212" y="4681728"/>
            <a:ext cx="1761683" cy="548640"/>
          </a:xfrm>
          <a:prstGeom prst="roundRect">
            <a:avLst>
              <a:gd name="adj" fmla="val 10000"/>
            </a:avLst>
          </a:prstGeom>
          <a:solidFill>
            <a:srgbClr val="FFFFFF"/>
          </a:solidFill>
          <a:ln/>
        </p:spPr>
      </p:sp>
      <p:sp>
        <p:nvSpPr>
          <p:cNvPr id="47" name="Text 44"/>
          <p:cNvSpPr/>
          <p:nvPr/>
        </p:nvSpPr>
        <p:spPr>
          <a:xfrm>
            <a:off x="9835652" y="4681728"/>
            <a:ext cx="1578803" cy="54864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Keputusan: </a:t>
            </a:r>
            <a:pPr indent="0" marL="0">
              <a:buNone/>
            </a:pPr>
            <a:r>
              <a:rPr lang="en-US" sz="1300" dirty="0">
                <a:solidFill>
                  <a:srgbClr val="1B4332"/>
                </a:solidFill>
                <a:latin typeface="Calibri" pitchFamily="34" charset="0"/>
                <a:ea typeface="Calibri" pitchFamily="34" charset="-122"/>
                <a:cs typeface="Calibri" pitchFamily="34" charset="-120"/>
              </a:rPr>
              <a:t>Kontrak &amp; pre-order</a:t>
            </a:r>
            <a:endParaRPr lang="en-US" sz="1300" dirty="0"/>
          </a:p>
        </p:txBody>
      </p:sp>
      <p:sp>
        <p:nvSpPr>
          <p:cNvPr id="48" name="Shape 45"/>
          <p:cNvSpPr/>
          <p:nvPr/>
        </p:nvSpPr>
        <p:spPr>
          <a:xfrm>
            <a:off x="548640" y="5623560"/>
            <a:ext cx="11094415" cy="594360"/>
          </a:xfrm>
          <a:prstGeom prst="roundRect">
            <a:avLst>
              <a:gd name="adj" fmla="val 9231"/>
            </a:avLst>
          </a:prstGeom>
          <a:solidFill>
            <a:srgbClr val="1B4332"/>
          </a:solidFill>
          <a:ln/>
        </p:spPr>
      </p:sp>
      <p:sp>
        <p:nvSpPr>
          <p:cNvPr id="49" name="Text 46"/>
          <p:cNvSpPr/>
          <p:nvPr/>
        </p:nvSpPr>
        <p:spPr>
          <a:xfrm>
            <a:off x="777240" y="5623560"/>
            <a:ext cx="10637215" cy="594360"/>
          </a:xfrm>
          <a:prstGeom prst="rect">
            <a:avLst/>
          </a:prstGeom>
          <a:noFill/>
          <a:ln/>
        </p:spPr>
        <p:txBody>
          <a:bodyPr wrap="square" lIns="0" tIns="0" rIns="0" bIns="0" rtlCol="0" anchor="ctr"/>
          <a:lstStyle/>
          <a:p>
            <a:pPr indent="0" marL="0">
              <a:buNone/>
            </a:pPr>
            <a:r>
              <a:rPr lang="en-US" sz="1500" b="1" dirty="0">
                <a:solidFill>
                  <a:srgbClr val="E09F3E"/>
                </a:solidFill>
                <a:latin typeface="Calibri" pitchFamily="34" charset="0"/>
                <a:ea typeface="Calibri" pitchFamily="34" charset="-122"/>
                <a:cs typeface="Calibri" pitchFamily="34" charset="-120"/>
              </a:rPr>
              <a:t>Justifikasi:  </a:t>
            </a:r>
            <a:pPr indent="0" marL="0">
              <a:buNone/>
            </a:pPr>
            <a:r>
              <a:rPr lang="en-US" sz="1500" dirty="0">
                <a:solidFill>
                  <a:srgbClr val="FFFFFF"/>
                </a:solidFill>
                <a:latin typeface="Calibri" pitchFamily="34" charset="0"/>
                <a:ea typeface="Calibri" pitchFamily="34" charset="-122"/>
                <a:cs typeface="Calibri" pitchFamily="34" charset="-120"/>
              </a:rPr>
              <a:t>dipilih dari kolom yang benar-benar tercatat (tanggal, komoditas, volume, harga, pembeli, lahan). Biaya dan stok tidak dicatat, sehingga margin dan perputaran stok tidak dijadikan KPI.</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548640"/>
          </a:xfrm>
          <a:prstGeom prst="ellipse">
            <a:avLst/>
          </a:prstGeom>
          <a:solidFill>
            <a:srgbClr val="1B4332"/>
          </a:solidFill>
          <a:ln/>
        </p:spPr>
      </p:sp>
      <p:sp>
        <p:nvSpPr>
          <p:cNvPr id="3" name="Text 1"/>
          <p:cNvSpPr/>
          <p:nvPr/>
        </p:nvSpPr>
        <p:spPr>
          <a:xfrm>
            <a:off x="548640" y="384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Text 2"/>
          <p:cNvSpPr/>
          <p:nvPr/>
        </p:nvSpPr>
        <p:spPr>
          <a:xfrm>
            <a:off x="1280160" y="274320"/>
            <a:ext cx="9997135" cy="868680"/>
          </a:xfrm>
          <a:prstGeom prst="rect">
            <a:avLst/>
          </a:prstGeom>
          <a:noFill/>
          <a:ln/>
        </p:spPr>
        <p:txBody>
          <a:bodyPr wrap="square" lIns="0" tIns="0" rIns="0" bIns="0" rtlCol="0" anchor="ctr">
            <a:normAutofit/>
          </a:bodyPr>
          <a:lstStyle/>
          <a:p>
            <a:pPr indent="0" marL="0">
              <a:buNone/>
            </a:pPr>
            <a:r>
              <a:rPr lang="en-US" sz="2400" b="1" dirty="0">
                <a:solidFill>
                  <a:srgbClr val="1B4332"/>
                </a:solidFill>
                <a:latin typeface="Cambria" pitchFamily="34" charset="0"/>
                <a:ea typeface="Cambria" pitchFamily="34" charset="-122"/>
                <a:cs typeface="Cambria" pitchFamily="34" charset="-120"/>
              </a:rPr>
              <a:t>Data 8 minggu dari buku kasir dibersihkan dalam empat langkah sebelum dimodelkan</a:t>
            </a:r>
            <a:endParaRPr lang="en-US" sz="2400" dirty="0"/>
          </a:p>
        </p:txBody>
      </p:sp>
      <p:sp>
        <p:nvSpPr>
          <p:cNvPr id="5" name="Text 3"/>
          <p:cNvSpPr/>
          <p:nvPr/>
        </p:nvSpPr>
        <p:spPr>
          <a:xfrm>
            <a:off x="11323015" y="320040"/>
            <a:ext cx="365760" cy="274320"/>
          </a:xfrm>
          <a:prstGeom prst="rect">
            <a:avLst/>
          </a:prstGeom>
          <a:noFill/>
          <a:ln/>
        </p:spPr>
        <p:txBody>
          <a:bodyPr wrap="square" lIns="0" tIns="0" rIns="0" bIns="0" rtlCol="0" anchor="t"/>
          <a:lstStyle/>
          <a:p>
            <a:pPr algn="r" indent="0" marL="0">
              <a:buNone/>
            </a:pPr>
            <a:r>
              <a:rPr lang="en-US" sz="1100" dirty="0">
                <a:solidFill>
                  <a:srgbClr val="6C757D"/>
                </a:solidFill>
                <a:latin typeface="Calibri" pitchFamily="34" charset="0"/>
                <a:ea typeface="Calibri" pitchFamily="34" charset="-122"/>
                <a:cs typeface="Calibri" pitchFamily="34" charset="-120"/>
              </a:rPr>
              <a:t>4</a:t>
            </a:r>
            <a:endParaRPr lang="en-US" sz="1100" dirty="0"/>
          </a:p>
        </p:txBody>
      </p:sp>
      <p:sp>
        <p:nvSpPr>
          <p:cNvPr id="6" name="Text 4"/>
          <p:cNvSpPr/>
          <p:nvPr/>
        </p:nvSpPr>
        <p:spPr>
          <a:xfrm>
            <a:off x="548640" y="6400800"/>
            <a:ext cx="8412480" cy="274320"/>
          </a:xfrm>
          <a:prstGeom prst="rect">
            <a:avLst/>
          </a:prstGeom>
          <a:noFill/>
          <a:ln/>
        </p:spPr>
        <p:txBody>
          <a:bodyPr wrap="square" lIns="0" tIns="0" rIns="0" bIns="0" rtlCol="0" anchor="t"/>
          <a:lstStyle/>
          <a:p>
            <a:pPr indent="0" marL="0">
              <a:buNone/>
            </a:pPr>
            <a:r>
              <a:rPr lang="en-US" sz="1100" i="1" dirty="0">
                <a:solidFill>
                  <a:srgbClr val="6C757D"/>
                </a:solidFill>
                <a:latin typeface="Calibri" pitchFamily="34" charset="0"/>
                <a:ea typeface="Calibri" pitchFamily="34" charset="-122"/>
                <a:cs typeface="Calibri" pitchFamily="34" charset="-120"/>
              </a:rPr>
              <a:t>Sumber: buku kasir kebun produksi BBPP Ketindan, 3 Agustus–25 September 2026 (diolah).</a:t>
            </a:r>
            <a:endParaRPr lang="en-US" sz="1100" dirty="0"/>
          </a:p>
        </p:txBody>
      </p:sp>
      <p:sp>
        <p:nvSpPr>
          <p:cNvPr id="7" name="Text 5"/>
          <p:cNvSpPr/>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6C757D"/>
                </a:solidFill>
                <a:latin typeface="Calibri" pitchFamily="34" charset="0"/>
                <a:ea typeface="Calibri" pitchFamily="34" charset="-122"/>
                <a:cs typeface="Calibri" pitchFamily="34" charset="-120"/>
              </a:rPr>
              <a:t>Pengumpulan &amp; pembersihan data</a:t>
            </a:r>
            <a:endParaRPr lang="en-US" sz="1000" dirty="0"/>
          </a:p>
        </p:txBody>
      </p:sp>
      <p:sp>
        <p:nvSpPr>
          <p:cNvPr id="9" name="Shape 6"/>
          <p:cNvSpPr/>
          <p:nvPr/>
        </p:nvSpPr>
        <p:spPr>
          <a:xfrm>
            <a:off x="548640" y="1280160"/>
            <a:ext cx="2567864" cy="1234440"/>
          </a:xfrm>
          <a:prstGeom prst="roundRect">
            <a:avLst>
              <a:gd name="adj" fmla="val 5926"/>
            </a:avLst>
          </a:prstGeom>
          <a:solidFill>
            <a:srgbClr val="EAF3EE"/>
          </a:solidFill>
          <a:ln/>
        </p:spPr>
      </p:sp>
      <p:sp>
        <p:nvSpPr>
          <p:cNvPr id="10" name="Text 7"/>
          <p:cNvSpPr/>
          <p:nvPr/>
        </p:nvSpPr>
        <p:spPr>
          <a:xfrm>
            <a:off x="777240" y="1371600"/>
            <a:ext cx="2110664" cy="685800"/>
          </a:xfrm>
          <a:prstGeom prst="rect">
            <a:avLst/>
          </a:prstGeom>
          <a:noFill/>
          <a:ln/>
        </p:spPr>
        <p:txBody>
          <a:bodyPr wrap="square" lIns="0" tIns="0" rIns="0" bIns="0"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549</a:t>
            </a:r>
            <a:endParaRPr lang="en-US" sz="3200" dirty="0"/>
          </a:p>
        </p:txBody>
      </p:sp>
      <p:sp>
        <p:nvSpPr>
          <p:cNvPr id="11" name="Text 8"/>
          <p:cNvSpPr/>
          <p:nvPr/>
        </p:nvSpPr>
        <p:spPr>
          <a:xfrm>
            <a:off x="777240" y="2057400"/>
            <a:ext cx="2110664" cy="365760"/>
          </a:xfrm>
          <a:prstGeom prst="rect">
            <a:avLst/>
          </a:prstGeom>
          <a:noFill/>
          <a:ln/>
        </p:spPr>
        <p:txBody>
          <a:bodyPr wrap="square" lIns="0" tIns="0" rIns="0" bIns="0" rtlCol="0" anchor="t"/>
          <a:lstStyle/>
          <a:p>
            <a:pPr indent="0" marL="0">
              <a:buNone/>
            </a:pPr>
            <a:r>
              <a:rPr lang="en-US" sz="1500" dirty="0">
                <a:solidFill>
                  <a:srgbClr val="6C757D"/>
                </a:solidFill>
                <a:latin typeface="Calibri" pitchFamily="34" charset="0"/>
                <a:ea typeface="Calibri" pitchFamily="34" charset="-122"/>
                <a:cs typeface="Calibri" pitchFamily="34" charset="-120"/>
              </a:rPr>
              <a:t>transaksi tercatat</a:t>
            </a:r>
            <a:endParaRPr lang="en-US" sz="1500" dirty="0"/>
          </a:p>
        </p:txBody>
      </p:sp>
      <p:sp>
        <p:nvSpPr>
          <p:cNvPr id="12" name="Shape 9"/>
          <p:cNvSpPr/>
          <p:nvPr/>
        </p:nvSpPr>
        <p:spPr>
          <a:xfrm>
            <a:off x="3390824" y="1280160"/>
            <a:ext cx="2567864" cy="1234440"/>
          </a:xfrm>
          <a:prstGeom prst="roundRect">
            <a:avLst>
              <a:gd name="adj" fmla="val 5926"/>
            </a:avLst>
          </a:prstGeom>
          <a:solidFill>
            <a:srgbClr val="EAF3EE"/>
          </a:solidFill>
          <a:ln/>
        </p:spPr>
      </p:sp>
      <p:sp>
        <p:nvSpPr>
          <p:cNvPr id="13" name="Text 10"/>
          <p:cNvSpPr/>
          <p:nvPr/>
        </p:nvSpPr>
        <p:spPr>
          <a:xfrm>
            <a:off x="3619424" y="1371600"/>
            <a:ext cx="2110664" cy="685800"/>
          </a:xfrm>
          <a:prstGeom prst="rect">
            <a:avLst/>
          </a:prstGeom>
          <a:noFill/>
          <a:ln/>
        </p:spPr>
        <p:txBody>
          <a:bodyPr wrap="square" lIns="0" tIns="0" rIns="0" bIns="0"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36</a:t>
            </a:r>
            <a:endParaRPr lang="en-US" sz="3200" dirty="0"/>
          </a:p>
        </p:txBody>
      </p:sp>
      <p:sp>
        <p:nvSpPr>
          <p:cNvPr id="14" name="Text 11"/>
          <p:cNvSpPr/>
          <p:nvPr/>
        </p:nvSpPr>
        <p:spPr>
          <a:xfrm>
            <a:off x="3619424" y="2057400"/>
            <a:ext cx="2110664" cy="365760"/>
          </a:xfrm>
          <a:prstGeom prst="rect">
            <a:avLst/>
          </a:prstGeom>
          <a:noFill/>
          <a:ln/>
        </p:spPr>
        <p:txBody>
          <a:bodyPr wrap="square" lIns="0" tIns="0" rIns="0" bIns="0" rtlCol="0" anchor="t"/>
          <a:lstStyle/>
          <a:p>
            <a:pPr indent="0" marL="0">
              <a:buNone/>
            </a:pPr>
            <a:r>
              <a:rPr lang="en-US" sz="1500" dirty="0">
                <a:solidFill>
                  <a:srgbClr val="6C757D"/>
                </a:solidFill>
                <a:latin typeface="Calibri" pitchFamily="34" charset="0"/>
                <a:ea typeface="Calibri" pitchFamily="34" charset="-122"/>
                <a:cs typeface="Calibri" pitchFamily="34" charset="-120"/>
              </a:rPr>
              <a:t>hari transaksi (8 minggu)</a:t>
            </a:r>
            <a:endParaRPr lang="en-US" sz="1500" dirty="0"/>
          </a:p>
        </p:txBody>
      </p:sp>
      <p:sp>
        <p:nvSpPr>
          <p:cNvPr id="15" name="Shape 12"/>
          <p:cNvSpPr/>
          <p:nvPr/>
        </p:nvSpPr>
        <p:spPr>
          <a:xfrm>
            <a:off x="6233008" y="1280160"/>
            <a:ext cx="2567864" cy="1234440"/>
          </a:xfrm>
          <a:prstGeom prst="roundRect">
            <a:avLst>
              <a:gd name="adj" fmla="val 5926"/>
            </a:avLst>
          </a:prstGeom>
          <a:solidFill>
            <a:srgbClr val="EAF3EE"/>
          </a:solidFill>
          <a:ln/>
        </p:spPr>
      </p:sp>
      <p:sp>
        <p:nvSpPr>
          <p:cNvPr id="16" name="Text 13"/>
          <p:cNvSpPr/>
          <p:nvPr/>
        </p:nvSpPr>
        <p:spPr>
          <a:xfrm>
            <a:off x="6461608" y="1371600"/>
            <a:ext cx="2110664" cy="685800"/>
          </a:xfrm>
          <a:prstGeom prst="rect">
            <a:avLst/>
          </a:prstGeom>
          <a:noFill/>
          <a:ln/>
        </p:spPr>
        <p:txBody>
          <a:bodyPr wrap="square" lIns="0" tIns="0" rIns="0" bIns="0"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Rp 29,82 Jt</a:t>
            </a:r>
            <a:endParaRPr lang="en-US" sz="3200" dirty="0"/>
          </a:p>
        </p:txBody>
      </p:sp>
      <p:sp>
        <p:nvSpPr>
          <p:cNvPr id="17" name="Text 14"/>
          <p:cNvSpPr/>
          <p:nvPr/>
        </p:nvSpPr>
        <p:spPr>
          <a:xfrm>
            <a:off x="6461608" y="2057400"/>
            <a:ext cx="2110664" cy="365760"/>
          </a:xfrm>
          <a:prstGeom prst="rect">
            <a:avLst/>
          </a:prstGeom>
          <a:noFill/>
          <a:ln/>
        </p:spPr>
        <p:txBody>
          <a:bodyPr wrap="square" lIns="0" tIns="0" rIns="0" bIns="0" rtlCol="0" anchor="t"/>
          <a:lstStyle/>
          <a:p>
            <a:pPr indent="0" marL="0">
              <a:buNone/>
            </a:pPr>
            <a:r>
              <a:rPr lang="en-US" sz="1500" dirty="0">
                <a:solidFill>
                  <a:srgbClr val="6C757D"/>
                </a:solidFill>
                <a:latin typeface="Calibri" pitchFamily="34" charset="0"/>
                <a:ea typeface="Calibri" pitchFamily="34" charset="-122"/>
                <a:cs typeface="Calibri" pitchFamily="34" charset="-120"/>
              </a:rPr>
              <a:t>total pendapatan</a:t>
            </a:r>
            <a:endParaRPr lang="en-US" sz="1500" dirty="0"/>
          </a:p>
        </p:txBody>
      </p:sp>
      <p:sp>
        <p:nvSpPr>
          <p:cNvPr id="18" name="Shape 15"/>
          <p:cNvSpPr/>
          <p:nvPr/>
        </p:nvSpPr>
        <p:spPr>
          <a:xfrm>
            <a:off x="9075191" y="1280160"/>
            <a:ext cx="2567864" cy="1234440"/>
          </a:xfrm>
          <a:prstGeom prst="roundRect">
            <a:avLst>
              <a:gd name="adj" fmla="val 5926"/>
            </a:avLst>
          </a:prstGeom>
          <a:solidFill>
            <a:srgbClr val="EAF3EE"/>
          </a:solidFill>
          <a:ln/>
        </p:spPr>
      </p:sp>
      <p:sp>
        <p:nvSpPr>
          <p:cNvPr id="19" name="Text 16"/>
          <p:cNvSpPr/>
          <p:nvPr/>
        </p:nvSpPr>
        <p:spPr>
          <a:xfrm>
            <a:off x="9303791" y="1371600"/>
            <a:ext cx="2110664" cy="685800"/>
          </a:xfrm>
          <a:prstGeom prst="rect">
            <a:avLst/>
          </a:prstGeom>
          <a:noFill/>
          <a:ln/>
        </p:spPr>
        <p:txBody>
          <a:bodyPr wrap="square" lIns="0" tIns="0" rIns="0" bIns="0"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16 · 214</a:t>
            </a:r>
            <a:endParaRPr lang="en-US" sz="3200" dirty="0"/>
          </a:p>
        </p:txBody>
      </p:sp>
      <p:sp>
        <p:nvSpPr>
          <p:cNvPr id="20" name="Text 17"/>
          <p:cNvSpPr/>
          <p:nvPr/>
        </p:nvSpPr>
        <p:spPr>
          <a:xfrm>
            <a:off x="9303791" y="2057400"/>
            <a:ext cx="2110664" cy="365760"/>
          </a:xfrm>
          <a:prstGeom prst="rect">
            <a:avLst/>
          </a:prstGeom>
          <a:noFill/>
          <a:ln/>
        </p:spPr>
        <p:txBody>
          <a:bodyPr wrap="square" lIns="0" tIns="0" rIns="0" bIns="0" rtlCol="0" anchor="t"/>
          <a:lstStyle/>
          <a:p>
            <a:pPr indent="0" marL="0">
              <a:buNone/>
            </a:pPr>
            <a:r>
              <a:rPr lang="en-US" sz="1500" dirty="0">
                <a:solidFill>
                  <a:srgbClr val="6C757D"/>
                </a:solidFill>
                <a:latin typeface="Calibri" pitchFamily="34" charset="0"/>
                <a:ea typeface="Calibri" pitchFamily="34" charset="-122"/>
                <a:cs typeface="Calibri" pitchFamily="34" charset="-120"/>
              </a:rPr>
              <a:t>komoditas · pembeli unik</a:t>
            </a:r>
            <a:endParaRPr lang="en-US" sz="1500" dirty="0"/>
          </a:p>
        </p:txBody>
      </p:sp>
      <p:sp>
        <p:nvSpPr>
          <p:cNvPr id="21" name="Shape 18"/>
          <p:cNvSpPr/>
          <p:nvPr/>
        </p:nvSpPr>
        <p:spPr>
          <a:xfrm>
            <a:off x="548640" y="2834640"/>
            <a:ext cx="1926275" cy="1508760"/>
          </a:xfrm>
          <a:prstGeom prst="roundRect">
            <a:avLst>
              <a:gd name="adj" fmla="val 4848"/>
            </a:avLst>
          </a:prstGeom>
          <a:solidFill>
            <a:srgbClr val="EAF3EE"/>
          </a:solidFill>
          <a:ln/>
        </p:spPr>
      </p:sp>
      <p:sp>
        <p:nvSpPr>
          <p:cNvPr id="22" name="Text 19"/>
          <p:cNvSpPr/>
          <p:nvPr/>
        </p:nvSpPr>
        <p:spPr>
          <a:xfrm>
            <a:off x="685800" y="2971800"/>
            <a:ext cx="1651955" cy="1234440"/>
          </a:xfrm>
          <a:prstGeom prst="rect">
            <a:avLst/>
          </a:prstGeom>
          <a:noFill/>
          <a:ln/>
        </p:spPr>
        <p:txBody>
          <a:bodyPr wrap="square" lIns="0" tIns="0" rIns="0" bIns="0" rtlCol="0" anchor="t"/>
          <a:lstStyle/>
          <a:p>
            <a:pPr indent="0" marL="0">
              <a:buNone/>
            </a:pPr>
            <a:r>
              <a:rPr lang="en-US" sz="1700" b="1" dirty="0">
                <a:solidFill>
                  <a:srgbClr val="1B4332"/>
                </a:solidFill>
                <a:latin typeface="Calibri" pitchFamily="34" charset="0"/>
                <a:ea typeface="Calibri" pitchFamily="34" charset="-122"/>
                <a:cs typeface="Calibri" pitchFamily="34" charset="-120"/>
              </a:rPr>
              <a:t>Buku kasir</a:t>
            </a:r>
            <a:endParaRPr lang="en-US" sz="1600" dirty="0"/>
          </a:p>
          <a:p>
            <a:pPr indent="0" marL="0">
              <a:buNone/>
            </a:pPr>
            <a:r>
              <a:rPr lang="en-US" sz="1300" dirty="0">
                <a:solidFill>
                  <a:srgbClr val="212529"/>
                </a:solidFill>
                <a:latin typeface="Calibri" pitchFamily="34" charset="0"/>
                <a:ea typeface="Calibri" pitchFamily="34" charset="-122"/>
                <a:cs typeface="Calibri" pitchFamily="34" charset="-120"/>
              </a:rPr>
              <a:t>1 sheet Excel, 549 baris, kolom tanggal s.d. lahan</a:t>
            </a:r>
            <a:endParaRPr lang="en-US" sz="1600" dirty="0"/>
          </a:p>
        </p:txBody>
      </p:sp>
      <p:sp>
        <p:nvSpPr>
          <p:cNvPr id="23" name="Shape 20"/>
          <p:cNvSpPr/>
          <p:nvPr/>
        </p:nvSpPr>
        <p:spPr>
          <a:xfrm>
            <a:off x="2538923" y="3470148"/>
            <a:ext cx="237744" cy="237744"/>
          </a:xfrm>
          <a:prstGeom prst="rightArrow">
            <a:avLst/>
          </a:prstGeom>
          <a:solidFill>
            <a:srgbClr val="2D6A4F"/>
          </a:solidFill>
          <a:ln/>
        </p:spPr>
      </p:sp>
      <p:sp>
        <p:nvSpPr>
          <p:cNvPr id="24" name="Shape 21"/>
          <p:cNvSpPr/>
          <p:nvPr/>
        </p:nvSpPr>
        <p:spPr>
          <a:xfrm>
            <a:off x="2840675" y="2834640"/>
            <a:ext cx="1926275" cy="1508760"/>
          </a:xfrm>
          <a:prstGeom prst="roundRect">
            <a:avLst>
              <a:gd name="adj" fmla="val 4848"/>
            </a:avLst>
          </a:prstGeom>
          <a:solidFill>
            <a:srgbClr val="E09F3E"/>
          </a:solidFill>
          <a:ln/>
        </p:spPr>
      </p:sp>
      <p:sp>
        <p:nvSpPr>
          <p:cNvPr id="25" name="Text 22"/>
          <p:cNvSpPr/>
          <p:nvPr/>
        </p:nvSpPr>
        <p:spPr>
          <a:xfrm>
            <a:off x="2977835" y="2971800"/>
            <a:ext cx="1651955" cy="12344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Koreksi tanggal</a:t>
            </a:r>
            <a:endParaRPr lang="en-US" sz="1600" dirty="0"/>
          </a:p>
          <a:p>
            <a:pPr indent="0" marL="0">
              <a:buNone/>
            </a:pPr>
            <a:r>
              <a:rPr lang="en-US" sz="1300" dirty="0">
                <a:solidFill>
                  <a:srgbClr val="FFFFFF"/>
                </a:solidFill>
                <a:latin typeface="Calibri" pitchFamily="34" charset="0"/>
                <a:ea typeface="Calibri" pitchFamily="34" charset="-122"/>
                <a:cs typeface="Calibri" pitchFamily="34" charset="-120"/>
              </a:rPr>
              <a:t>7 baris tahun salah (2025/2028/2029) dan 2 tanggal teks → 2026</a:t>
            </a:r>
            <a:endParaRPr lang="en-US" sz="1600" dirty="0"/>
          </a:p>
        </p:txBody>
      </p:sp>
      <p:sp>
        <p:nvSpPr>
          <p:cNvPr id="26" name="Shape 23"/>
          <p:cNvSpPr/>
          <p:nvPr/>
        </p:nvSpPr>
        <p:spPr>
          <a:xfrm>
            <a:off x="4830958" y="3470148"/>
            <a:ext cx="237744" cy="237744"/>
          </a:xfrm>
          <a:prstGeom prst="rightArrow">
            <a:avLst/>
          </a:prstGeom>
          <a:solidFill>
            <a:srgbClr val="2D6A4F"/>
          </a:solidFill>
          <a:ln/>
        </p:spPr>
      </p:sp>
      <p:sp>
        <p:nvSpPr>
          <p:cNvPr id="27" name="Shape 24"/>
          <p:cNvSpPr/>
          <p:nvPr/>
        </p:nvSpPr>
        <p:spPr>
          <a:xfrm>
            <a:off x="5132710" y="2834640"/>
            <a:ext cx="1926275" cy="1508760"/>
          </a:xfrm>
          <a:prstGeom prst="roundRect">
            <a:avLst>
              <a:gd name="adj" fmla="val 4848"/>
            </a:avLst>
          </a:prstGeom>
          <a:solidFill>
            <a:srgbClr val="EAF3EE"/>
          </a:solidFill>
          <a:ln/>
        </p:spPr>
      </p:sp>
      <p:sp>
        <p:nvSpPr>
          <p:cNvPr id="28" name="Text 25"/>
          <p:cNvSpPr/>
          <p:nvPr/>
        </p:nvSpPr>
        <p:spPr>
          <a:xfrm>
            <a:off x="5269870" y="2971800"/>
            <a:ext cx="1651955" cy="1234440"/>
          </a:xfrm>
          <a:prstGeom prst="rect">
            <a:avLst/>
          </a:prstGeom>
          <a:noFill/>
          <a:ln/>
        </p:spPr>
        <p:txBody>
          <a:bodyPr wrap="square" lIns="0" tIns="0" rIns="0" bIns="0" rtlCol="0" anchor="t"/>
          <a:lstStyle/>
          <a:p>
            <a:pPr indent="0" marL="0">
              <a:buNone/>
            </a:pPr>
            <a:r>
              <a:rPr lang="en-US" sz="1700" b="1" dirty="0">
                <a:solidFill>
                  <a:srgbClr val="1B4332"/>
                </a:solidFill>
                <a:latin typeface="Calibri" pitchFamily="34" charset="0"/>
                <a:ea typeface="Calibri" pitchFamily="34" charset="-122"/>
                <a:cs typeface="Calibri" pitchFamily="34" charset="-120"/>
              </a:rPr>
              <a:t>Seragamkan satuan</a:t>
            </a:r>
            <a:endParaRPr lang="en-US" sz="1600" dirty="0"/>
          </a:p>
          <a:p>
            <a:pPr indent="0" marL="0">
              <a:buNone/>
            </a:pPr>
            <a:r>
              <a:rPr lang="en-US" sz="1300" dirty="0">
                <a:solidFill>
                  <a:srgbClr val="212529"/>
                </a:solidFill>
                <a:latin typeface="Calibri" pitchFamily="34" charset="0"/>
                <a:ea typeface="Calibri" pitchFamily="34" charset="-122"/>
                <a:cs typeface="Calibri" pitchFamily="34" charset="-120"/>
              </a:rPr>
              <a:t>kg → Kg, paket → Pack (harga sama); sisa 4 satuan</a:t>
            </a:r>
            <a:endParaRPr lang="en-US" sz="1600" dirty="0"/>
          </a:p>
        </p:txBody>
      </p:sp>
      <p:sp>
        <p:nvSpPr>
          <p:cNvPr id="29" name="Shape 26"/>
          <p:cNvSpPr/>
          <p:nvPr/>
        </p:nvSpPr>
        <p:spPr>
          <a:xfrm>
            <a:off x="7122993" y="3470148"/>
            <a:ext cx="237744" cy="237744"/>
          </a:xfrm>
          <a:prstGeom prst="rightArrow">
            <a:avLst/>
          </a:prstGeom>
          <a:solidFill>
            <a:srgbClr val="2D6A4F"/>
          </a:solidFill>
          <a:ln/>
        </p:spPr>
      </p:sp>
      <p:sp>
        <p:nvSpPr>
          <p:cNvPr id="30" name="Shape 27"/>
          <p:cNvSpPr/>
          <p:nvPr/>
        </p:nvSpPr>
        <p:spPr>
          <a:xfrm>
            <a:off x="7424745" y="2834640"/>
            <a:ext cx="1926275" cy="1508760"/>
          </a:xfrm>
          <a:prstGeom prst="roundRect">
            <a:avLst>
              <a:gd name="adj" fmla="val 4848"/>
            </a:avLst>
          </a:prstGeom>
          <a:solidFill>
            <a:srgbClr val="EAF3EE"/>
          </a:solidFill>
          <a:ln/>
        </p:spPr>
      </p:sp>
      <p:sp>
        <p:nvSpPr>
          <p:cNvPr id="31" name="Text 28"/>
          <p:cNvSpPr/>
          <p:nvPr/>
        </p:nvSpPr>
        <p:spPr>
          <a:xfrm>
            <a:off x="7561905" y="2971800"/>
            <a:ext cx="1651955" cy="1234440"/>
          </a:xfrm>
          <a:prstGeom prst="rect">
            <a:avLst/>
          </a:prstGeom>
          <a:noFill/>
          <a:ln/>
        </p:spPr>
        <p:txBody>
          <a:bodyPr wrap="square" lIns="0" tIns="0" rIns="0" bIns="0" rtlCol="0" anchor="t"/>
          <a:lstStyle/>
          <a:p>
            <a:pPr indent="0" marL="0">
              <a:buNone/>
            </a:pPr>
            <a:r>
              <a:rPr lang="en-US" sz="1700" b="1" dirty="0">
                <a:solidFill>
                  <a:srgbClr val="1B4332"/>
                </a:solidFill>
                <a:latin typeface="Calibri" pitchFamily="34" charset="0"/>
                <a:ea typeface="Calibri" pitchFamily="34" charset="-122"/>
                <a:cs typeface="Calibri" pitchFamily="34" charset="-120"/>
              </a:rPr>
              <a:t>Pisah star schema</a:t>
            </a:r>
            <a:endParaRPr lang="en-US" sz="1600" dirty="0"/>
          </a:p>
          <a:p>
            <a:pPr indent="0" marL="0">
              <a:buNone/>
            </a:pPr>
            <a:r>
              <a:rPr lang="en-US" sz="1300" dirty="0">
                <a:solidFill>
                  <a:srgbClr val="212529"/>
                </a:solidFill>
                <a:latin typeface="Calibri" pitchFamily="34" charset="0"/>
                <a:ea typeface="Calibri" pitchFamily="34" charset="-122"/>
                <a:cs typeface="Calibri" pitchFamily="34" charset="-120"/>
              </a:rPr>
              <a:t>1 tabel fakta + 4 tabel dimensi dengan kunci</a:t>
            </a:r>
            <a:endParaRPr lang="en-US" sz="1600" dirty="0"/>
          </a:p>
        </p:txBody>
      </p:sp>
      <p:sp>
        <p:nvSpPr>
          <p:cNvPr id="32" name="Shape 29"/>
          <p:cNvSpPr/>
          <p:nvPr/>
        </p:nvSpPr>
        <p:spPr>
          <a:xfrm>
            <a:off x="9415028" y="3470148"/>
            <a:ext cx="237744" cy="237744"/>
          </a:xfrm>
          <a:prstGeom prst="rightArrow">
            <a:avLst/>
          </a:prstGeom>
          <a:solidFill>
            <a:srgbClr val="2D6A4F"/>
          </a:solidFill>
          <a:ln/>
        </p:spPr>
      </p:sp>
      <p:sp>
        <p:nvSpPr>
          <p:cNvPr id="33" name="Shape 30"/>
          <p:cNvSpPr/>
          <p:nvPr/>
        </p:nvSpPr>
        <p:spPr>
          <a:xfrm>
            <a:off x="9716780" y="2834640"/>
            <a:ext cx="1926275" cy="1508760"/>
          </a:xfrm>
          <a:prstGeom prst="roundRect">
            <a:avLst>
              <a:gd name="adj" fmla="val 4848"/>
            </a:avLst>
          </a:prstGeom>
          <a:solidFill>
            <a:srgbClr val="EAF3EE"/>
          </a:solidFill>
          <a:ln/>
        </p:spPr>
      </p:sp>
      <p:sp>
        <p:nvSpPr>
          <p:cNvPr id="34" name="Text 31"/>
          <p:cNvSpPr/>
          <p:nvPr/>
        </p:nvSpPr>
        <p:spPr>
          <a:xfrm>
            <a:off x="9853940" y="2971800"/>
            <a:ext cx="1651955" cy="1234440"/>
          </a:xfrm>
          <a:prstGeom prst="rect">
            <a:avLst/>
          </a:prstGeom>
          <a:noFill/>
          <a:ln/>
        </p:spPr>
        <p:txBody>
          <a:bodyPr wrap="square" lIns="0" tIns="0" rIns="0" bIns="0" rtlCol="0" anchor="t"/>
          <a:lstStyle/>
          <a:p>
            <a:pPr indent="0" marL="0">
              <a:buNone/>
            </a:pPr>
            <a:r>
              <a:rPr lang="en-US" sz="1700" b="1" dirty="0">
                <a:solidFill>
                  <a:srgbClr val="1B4332"/>
                </a:solidFill>
                <a:latin typeface="Calibri" pitchFamily="34" charset="0"/>
                <a:ea typeface="Calibri" pitchFamily="34" charset="-122"/>
                <a:cs typeface="Calibri" pitchFamily="34" charset="-120"/>
              </a:rPr>
              <a:t>Validasi total</a:t>
            </a:r>
            <a:endParaRPr lang="en-US" sz="1600" dirty="0"/>
          </a:p>
          <a:p>
            <a:pPr indent="0" marL="0">
              <a:buNone/>
            </a:pPr>
            <a:r>
              <a:rPr lang="en-US" sz="1300" dirty="0">
                <a:solidFill>
                  <a:srgbClr val="212529"/>
                </a:solidFill>
                <a:latin typeface="Calibri" pitchFamily="34" charset="0"/>
                <a:ea typeface="Calibri" pitchFamily="34" charset="-122"/>
                <a:cs typeface="Calibri" pitchFamily="34" charset="-120"/>
              </a:rPr>
              <a:t>Rp 29.818.920 sama dengan sel TOTAL buku kasir</a:t>
            </a:r>
            <a:endParaRPr lang="en-US" sz="1600" dirty="0"/>
          </a:p>
        </p:txBody>
      </p:sp>
      <p:sp>
        <p:nvSpPr>
          <p:cNvPr id="35" name="Shape 32"/>
          <p:cNvSpPr/>
          <p:nvPr/>
        </p:nvSpPr>
        <p:spPr>
          <a:xfrm>
            <a:off x="548640" y="4617720"/>
            <a:ext cx="11094415" cy="1188720"/>
          </a:xfrm>
          <a:prstGeom prst="roundRect">
            <a:avLst>
              <a:gd name="adj" fmla="val 6154"/>
            </a:avLst>
          </a:prstGeom>
          <a:solidFill>
            <a:srgbClr val="F5F8F6"/>
          </a:solidFill>
          <a:ln/>
        </p:spPr>
      </p:sp>
      <p:sp>
        <p:nvSpPr>
          <p:cNvPr id="36" name="Text 33"/>
          <p:cNvSpPr/>
          <p:nvPr/>
        </p:nvSpPr>
        <p:spPr>
          <a:xfrm>
            <a:off x="822960" y="4736592"/>
            <a:ext cx="10545775" cy="1280160"/>
          </a:xfrm>
          <a:prstGeom prst="rect">
            <a:avLst/>
          </a:prstGeom>
          <a:noFill/>
          <a:ln/>
        </p:spPr>
        <p:txBody>
          <a:bodyPr wrap="square" lIns="0" tIns="0" rIns="0" bIns="0" rtlCol="0" anchor="t"/>
          <a:lstStyle/>
          <a:p>
            <a:pPr indent="0" marL="0">
              <a:buNone/>
            </a:pPr>
            <a:r>
              <a:rPr lang="en-US" sz="1700" b="1" dirty="0">
                <a:solidFill>
                  <a:srgbClr val="1B4332"/>
                </a:solidFill>
                <a:latin typeface="Calibri" pitchFamily="34" charset="0"/>
                <a:ea typeface="Calibri" pitchFamily="34" charset="-122"/>
                <a:cs typeface="Calibri" pitchFamily="34" charset="-120"/>
              </a:rPr>
              <a:t>Mengapa koreksi tanggal penting</a:t>
            </a:r>
            <a:endParaRPr lang="en-US" sz="1500" dirty="0"/>
          </a:p>
          <a:p>
            <a:pPr indent="0" marL="0">
              <a:buNone/>
            </a:pPr>
            <a:r>
              <a:rPr lang="en-US" sz="1500" dirty="0">
                <a:solidFill>
                  <a:srgbClr val="212529"/>
                </a:solidFill>
                <a:latin typeface="Calibri" pitchFamily="34" charset="0"/>
                <a:ea typeface="Calibri" pitchFamily="34" charset="-122"/>
                <a:cs typeface="Calibri" pitchFamily="34" charset="-120"/>
              </a:rPr>
              <a:t>Empat transaksi Tomat Cherry tanggal 15 September tercatat sebagai 2025. Tanpa koreksi, Rp 150.000 hilang dari pendapatan Minggu-38 (KPI 1) dan dari September (KPI 2). Koreksi memakai urutan nomor transaksi: baris sebelum dan sesudahnya bertanggal 2026.</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548640"/>
          </a:xfrm>
          <a:prstGeom prst="ellipse">
            <a:avLst/>
          </a:prstGeom>
          <a:solidFill>
            <a:srgbClr val="1B4332"/>
          </a:solidFill>
          <a:ln/>
        </p:spPr>
      </p:sp>
      <p:sp>
        <p:nvSpPr>
          <p:cNvPr id="3" name="Text 1"/>
          <p:cNvSpPr/>
          <p:nvPr/>
        </p:nvSpPr>
        <p:spPr>
          <a:xfrm>
            <a:off x="548640" y="384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Text 2"/>
          <p:cNvSpPr/>
          <p:nvPr/>
        </p:nvSpPr>
        <p:spPr>
          <a:xfrm>
            <a:off x="1280160" y="274320"/>
            <a:ext cx="9997135" cy="868680"/>
          </a:xfrm>
          <a:prstGeom prst="rect">
            <a:avLst/>
          </a:prstGeom>
          <a:noFill/>
          <a:ln/>
        </p:spPr>
        <p:txBody>
          <a:bodyPr wrap="square" lIns="0" tIns="0" rIns="0" bIns="0" rtlCol="0" anchor="ctr">
            <a:normAutofit/>
          </a:bodyPr>
          <a:lstStyle/>
          <a:p>
            <a:pPr indent="0" marL="0">
              <a:buNone/>
            </a:pPr>
            <a:r>
              <a:rPr lang="en-US" sz="2400" b="1" dirty="0">
                <a:solidFill>
                  <a:srgbClr val="1B4332"/>
                </a:solidFill>
                <a:latin typeface="Cambria" pitchFamily="34" charset="0"/>
                <a:ea typeface="Cambria" pitchFamily="34" charset="-122"/>
                <a:cs typeface="Cambria" pitchFamily="34" charset="-120"/>
              </a:rPr>
              <a:t>Star schema: satu tabel fakta penjualan dikelilingi empat dimensi yang masing-masing melayani KPI</a:t>
            </a:r>
            <a:endParaRPr lang="en-US" sz="2400" dirty="0"/>
          </a:p>
        </p:txBody>
      </p:sp>
      <p:sp>
        <p:nvSpPr>
          <p:cNvPr id="5" name="Text 3"/>
          <p:cNvSpPr/>
          <p:nvPr/>
        </p:nvSpPr>
        <p:spPr>
          <a:xfrm>
            <a:off x="11323015" y="320040"/>
            <a:ext cx="365760" cy="274320"/>
          </a:xfrm>
          <a:prstGeom prst="rect">
            <a:avLst/>
          </a:prstGeom>
          <a:noFill/>
          <a:ln/>
        </p:spPr>
        <p:txBody>
          <a:bodyPr wrap="square" lIns="0" tIns="0" rIns="0" bIns="0" rtlCol="0" anchor="t"/>
          <a:lstStyle/>
          <a:p>
            <a:pPr algn="r" indent="0" marL="0">
              <a:buNone/>
            </a:pPr>
            <a:r>
              <a:rPr lang="en-US" sz="1100" dirty="0">
                <a:solidFill>
                  <a:srgbClr val="6C757D"/>
                </a:solidFill>
                <a:latin typeface="Calibri" pitchFamily="34" charset="0"/>
                <a:ea typeface="Calibri" pitchFamily="34" charset="-122"/>
                <a:cs typeface="Calibri" pitchFamily="34" charset="-120"/>
              </a:rPr>
              <a:t>5</a:t>
            </a:r>
            <a:endParaRPr lang="en-US" sz="1100" dirty="0"/>
          </a:p>
        </p:txBody>
      </p:sp>
      <p:sp>
        <p:nvSpPr>
          <p:cNvPr id="6" name="Text 4"/>
          <p:cNvSpPr/>
          <p:nvPr/>
        </p:nvSpPr>
        <p:spPr>
          <a:xfrm>
            <a:off x="548640" y="6400800"/>
            <a:ext cx="8412480" cy="274320"/>
          </a:xfrm>
          <a:prstGeom prst="rect">
            <a:avLst/>
          </a:prstGeom>
          <a:noFill/>
          <a:ln/>
        </p:spPr>
        <p:txBody>
          <a:bodyPr wrap="square" lIns="0" tIns="0" rIns="0" bIns="0" rtlCol="0" anchor="t"/>
          <a:lstStyle/>
          <a:p>
            <a:pPr indent="0" marL="0">
              <a:buNone/>
            </a:pPr>
            <a:r>
              <a:rPr lang="en-US" sz="1100" i="1" dirty="0">
                <a:solidFill>
                  <a:srgbClr val="6C757D"/>
                </a:solidFill>
                <a:latin typeface="Calibri" pitchFamily="34" charset="0"/>
                <a:ea typeface="Calibri" pitchFamily="34" charset="-122"/>
                <a:cs typeface="Calibri" pitchFamily="34" charset="-120"/>
              </a:rPr>
              <a:t>Diagram: model data Power BI SPK_Ade Surya Ananda_2646000083_PowerBI, disusun ulang.</a:t>
            </a:r>
            <a:endParaRPr lang="en-US" sz="1100" dirty="0"/>
          </a:p>
        </p:txBody>
      </p:sp>
      <p:sp>
        <p:nvSpPr>
          <p:cNvPr id="7" name="Text 5"/>
          <p:cNvSpPr/>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6C757D"/>
                </a:solidFill>
                <a:latin typeface="Calibri" pitchFamily="34" charset="0"/>
                <a:ea typeface="Calibri" pitchFamily="34" charset="-122"/>
                <a:cs typeface="Calibri" pitchFamily="34" charset="-120"/>
              </a:rPr>
              <a:t>Desain data warehouse</a:t>
            </a:r>
            <a:endParaRPr lang="en-US" sz="1000" dirty="0"/>
          </a:p>
        </p:txBody>
      </p:sp>
      <p:pic>
        <p:nvPicPr>
          <p:cNvPr id="9" name="Image 0" descr="preencoded.png">    </p:cNvPr>
          <p:cNvPicPr>
            <a:picLocks noChangeAspect="1"/>
          </p:cNvPicPr>
          <p:nvPr/>
        </p:nvPicPr>
        <p:blipFill>
          <a:blip r:embed="rId1"/>
          <a:stretch>
            <a:fillRect/>
          </a:stretch>
        </p:blipFill>
        <p:spPr>
          <a:xfrm>
            <a:off x="548640" y="1660207"/>
            <a:ext cx="6766560" cy="3171825"/>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543800" y="1325880"/>
          <a:ext cx="9144000" cy="914400"/>
        </p:xfrm>
        <a:graphic>
          <a:graphicData uri="http://schemas.openxmlformats.org/drawingml/2006/table">
            <a:tbl>
              <a:tblPr/>
              <a:tblGrid>
                <a:gridCol w="1508760"/>
                <a:gridCol w="685800"/>
                <a:gridCol w="1901952"/>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Tabel</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1B4332"/>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Baris</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1B4332"/>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Melayani</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1B4332"/>
                    </a:solidFill>
                  </a:tcPr>
                </a:tc>
              </a:tr>
              <a:tr h="384048">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Fact_Penjualan</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549</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Ukuran Volume, TotalPendapatan</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Dim_Waktu</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KPI 1 minggu, KPI 2 bulan</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r>
              <a:tr h="384048">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Dim_Produk</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34</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KPI 3–4 (16 komoditas × grade)</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Dim_Pelanggan</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214</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KPI 5 pembeli</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r>
              <a:tr h="384048">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Dim_Lahan</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Kontribusi 5 blok lahan</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r>
            </a:tbl>
          </a:graphicData>
        </a:graphic>
      </p:graphicFrame>
      <p:sp>
        <p:nvSpPr>
          <p:cNvPr id="11" name="Shape 6"/>
          <p:cNvSpPr/>
          <p:nvPr/>
        </p:nvSpPr>
        <p:spPr>
          <a:xfrm>
            <a:off x="7543800" y="3886200"/>
            <a:ext cx="4096512" cy="1325880"/>
          </a:xfrm>
          <a:prstGeom prst="roundRect">
            <a:avLst>
              <a:gd name="adj" fmla="val 5517"/>
            </a:avLst>
          </a:prstGeom>
          <a:solidFill>
            <a:srgbClr val="F5F8F6"/>
          </a:solidFill>
          <a:ln/>
        </p:spPr>
      </p:sp>
      <p:sp>
        <p:nvSpPr>
          <p:cNvPr id="12" name="Text 7"/>
          <p:cNvSpPr/>
          <p:nvPr/>
        </p:nvSpPr>
        <p:spPr>
          <a:xfrm>
            <a:off x="7726680" y="3995928"/>
            <a:ext cx="3749040" cy="1143000"/>
          </a:xfrm>
          <a:prstGeom prst="rect">
            <a:avLst/>
          </a:prstGeom>
          <a:noFill/>
          <a:ln/>
        </p:spPr>
        <p:txBody>
          <a:bodyPr wrap="square" lIns="0" tIns="0" rIns="0" bIns="0" rtlCol="0" anchor="t"/>
          <a:lstStyle/>
          <a:p>
            <a:pPr indent="0" marL="0">
              <a:buNone/>
            </a:pPr>
            <a:r>
              <a:rPr lang="en-US" sz="1400" b="1" dirty="0">
                <a:solidFill>
                  <a:srgbClr val="1B4332"/>
                </a:solidFill>
                <a:latin typeface="Calibri" pitchFamily="34" charset="0"/>
                <a:ea typeface="Calibri" pitchFamily="34" charset="-122"/>
                <a:cs typeface="Calibri" pitchFamily="34" charset="-120"/>
              </a:rPr>
              <a:t>Cara membaca</a:t>
            </a:r>
            <a:endParaRPr lang="en-US" sz="1400" dirty="0"/>
          </a:p>
          <a:p>
            <a:pPr indent="0" marL="0">
              <a:buNone/>
            </a:pPr>
            <a:r>
              <a:rPr lang="en-US" sz="1400" dirty="0">
                <a:solidFill>
                  <a:srgbClr val="212529"/>
                </a:solidFill>
                <a:latin typeface="Calibri" pitchFamily="34" charset="0"/>
                <a:ea typeface="Calibri" pitchFamily="34" charset="-122"/>
                <a:cs typeface="Calibri" pitchFamily="34" charset="-120"/>
              </a:rPr>
              <a:t>Grain fakta: satu baris = satu komoditas yang dibeli satu pembeli pada satu tanggal. Relasi 1 : N dari setiap dimensi ke fakta.</a:t>
            </a:r>
            <a:endParaRPr lang="en-US" sz="1400" dirty="0"/>
          </a:p>
        </p:txBody>
      </p:sp>
      <p:sp>
        <p:nvSpPr>
          <p:cNvPr id="13" name="Shape 8"/>
          <p:cNvSpPr/>
          <p:nvPr/>
        </p:nvSpPr>
        <p:spPr>
          <a:xfrm>
            <a:off x="548640" y="5440680"/>
            <a:ext cx="11094415" cy="777240"/>
          </a:xfrm>
          <a:prstGeom prst="roundRect">
            <a:avLst>
              <a:gd name="adj" fmla="val 7059"/>
            </a:avLst>
          </a:prstGeom>
          <a:solidFill>
            <a:srgbClr val="FFFFFF"/>
          </a:solidFill>
          <a:ln w="12700">
            <a:solidFill>
              <a:srgbClr val="CFDCD4"/>
            </a:solidFill>
            <a:prstDash val="solid"/>
          </a:ln>
        </p:spPr>
      </p:sp>
      <p:sp>
        <p:nvSpPr>
          <p:cNvPr id="14" name="Text 9"/>
          <p:cNvSpPr/>
          <p:nvPr/>
        </p:nvSpPr>
        <p:spPr>
          <a:xfrm>
            <a:off x="777240" y="5440680"/>
            <a:ext cx="10637215" cy="777240"/>
          </a:xfrm>
          <a:prstGeom prst="rect">
            <a:avLst/>
          </a:prstGeom>
          <a:noFill/>
          <a:ln/>
        </p:spPr>
        <p:txBody>
          <a:bodyPr wrap="square" lIns="0" tIns="0" rIns="0" bIns="0"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Istilah  </a:t>
            </a:r>
            <a:pPr indent="0" marL="0">
              <a:buNone/>
            </a:pPr>
            <a:r>
              <a:rPr lang="en-US" sz="1400" b="1" dirty="0">
                <a:solidFill>
                  <a:srgbClr val="212529"/>
                </a:solidFill>
                <a:latin typeface="Calibri" pitchFamily="34" charset="0"/>
                <a:ea typeface="Calibri" pitchFamily="34" charset="-122"/>
                <a:cs typeface="Calibri" pitchFamily="34" charset="-120"/>
              </a:rPr>
              <a:t>Tabel fakta</a:t>
            </a:r>
            <a:pPr indent="0" marL="0">
              <a:buNone/>
            </a:pPr>
            <a:r>
              <a:rPr lang="en-US" sz="1400" dirty="0">
                <a:solidFill>
                  <a:srgbClr val="212529"/>
                </a:solidFill>
                <a:latin typeface="Calibri" pitchFamily="34" charset="0"/>
                <a:ea typeface="Calibri" pitchFamily="34" charset="-122"/>
                <a:cs typeface="Calibri" pitchFamily="34" charset="-120"/>
              </a:rPr>
              <a:t>: berisi angka yang dijumlahkan.   </a:t>
            </a:r>
            <a:pPr indent="0" marL="0">
              <a:buNone/>
            </a:pPr>
            <a:r>
              <a:rPr lang="en-US" sz="1400" b="1" dirty="0">
                <a:solidFill>
                  <a:srgbClr val="212529"/>
                </a:solidFill>
                <a:latin typeface="Calibri" pitchFamily="34" charset="0"/>
                <a:ea typeface="Calibri" pitchFamily="34" charset="-122"/>
                <a:cs typeface="Calibri" pitchFamily="34" charset="-120"/>
              </a:rPr>
              <a:t>Dimensi</a:t>
            </a:r>
            <a:pPr indent="0" marL="0">
              <a:buNone/>
            </a:pPr>
            <a:r>
              <a:rPr lang="en-US" sz="1400" dirty="0">
                <a:solidFill>
                  <a:srgbClr val="212529"/>
                </a:solidFill>
                <a:latin typeface="Calibri" pitchFamily="34" charset="0"/>
                <a:ea typeface="Calibri" pitchFamily="34" charset="-122"/>
                <a:cs typeface="Calibri" pitchFamily="34" charset="-120"/>
              </a:rPr>
              <a:t>: konteks untuk memfilter dan mengelompokkan angka.   </a:t>
            </a:r>
            <a:pPr indent="0" marL="0">
              <a:buNone/>
            </a:pPr>
            <a:r>
              <a:rPr lang="en-US" sz="1400" b="1" dirty="0">
                <a:solidFill>
                  <a:srgbClr val="212529"/>
                </a:solidFill>
                <a:latin typeface="Calibri" pitchFamily="34" charset="0"/>
                <a:ea typeface="Calibri" pitchFamily="34" charset="-122"/>
                <a:cs typeface="Calibri" pitchFamily="34" charset="-120"/>
              </a:rPr>
              <a:t>Star schema</a:t>
            </a:r>
            <a:pPr indent="0" marL="0">
              <a:buNone/>
            </a:pPr>
            <a:r>
              <a:rPr lang="en-US" sz="1400" dirty="0">
                <a:solidFill>
                  <a:srgbClr val="212529"/>
                </a:solidFill>
                <a:latin typeface="Calibri" pitchFamily="34" charset="0"/>
                <a:ea typeface="Calibri" pitchFamily="34" charset="-122"/>
                <a:cs typeface="Calibri" pitchFamily="34" charset="-120"/>
              </a:rPr>
              <a:t>: fakta di tengah, dimensi di sekeliling.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548640"/>
          </a:xfrm>
          <a:prstGeom prst="ellipse">
            <a:avLst/>
          </a:prstGeom>
          <a:solidFill>
            <a:srgbClr val="1B4332"/>
          </a:solidFill>
          <a:ln/>
        </p:spPr>
      </p:sp>
      <p:sp>
        <p:nvSpPr>
          <p:cNvPr id="3" name="Text 1"/>
          <p:cNvSpPr/>
          <p:nvPr/>
        </p:nvSpPr>
        <p:spPr>
          <a:xfrm>
            <a:off x="548640" y="384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4" name="Text 2"/>
          <p:cNvSpPr/>
          <p:nvPr/>
        </p:nvSpPr>
        <p:spPr>
          <a:xfrm>
            <a:off x="1280160" y="274320"/>
            <a:ext cx="9997135" cy="868680"/>
          </a:xfrm>
          <a:prstGeom prst="rect">
            <a:avLst/>
          </a:prstGeom>
          <a:noFill/>
          <a:ln/>
        </p:spPr>
        <p:txBody>
          <a:bodyPr wrap="square" lIns="0" tIns="0" rIns="0" bIns="0" rtlCol="0" anchor="ctr">
            <a:normAutofit/>
          </a:bodyPr>
          <a:lstStyle/>
          <a:p>
            <a:pPr indent="0" marL="0">
              <a:buNone/>
            </a:pPr>
            <a:r>
              <a:rPr lang="en-US" sz="2400" b="1" dirty="0">
                <a:solidFill>
                  <a:srgbClr val="1B4332"/>
                </a:solidFill>
                <a:latin typeface="Cambria" pitchFamily="34" charset="0"/>
                <a:ea typeface="Cambria" pitchFamily="34" charset="-122"/>
                <a:cs typeface="Cambria" pitchFamily="34" charset="-120"/>
              </a:rPr>
              <a:t>Dashboard Power BI menaruh angka utama di atas dan semua visual saling memfilter</a:t>
            </a:r>
            <a:endParaRPr lang="en-US" sz="2400" dirty="0"/>
          </a:p>
        </p:txBody>
      </p:sp>
      <p:sp>
        <p:nvSpPr>
          <p:cNvPr id="5" name="Text 3"/>
          <p:cNvSpPr/>
          <p:nvPr/>
        </p:nvSpPr>
        <p:spPr>
          <a:xfrm>
            <a:off x="11323015" y="320040"/>
            <a:ext cx="365760" cy="274320"/>
          </a:xfrm>
          <a:prstGeom prst="rect">
            <a:avLst/>
          </a:prstGeom>
          <a:noFill/>
          <a:ln/>
        </p:spPr>
        <p:txBody>
          <a:bodyPr wrap="square" lIns="0" tIns="0" rIns="0" bIns="0" rtlCol="0" anchor="t"/>
          <a:lstStyle/>
          <a:p>
            <a:pPr algn="r" indent="0" marL="0">
              <a:buNone/>
            </a:pPr>
            <a:r>
              <a:rPr lang="en-US" sz="1100" dirty="0">
                <a:solidFill>
                  <a:srgbClr val="6C757D"/>
                </a:solidFill>
                <a:latin typeface="Calibri" pitchFamily="34" charset="0"/>
                <a:ea typeface="Calibri" pitchFamily="34" charset="-122"/>
                <a:cs typeface="Calibri" pitchFamily="34" charset="-120"/>
              </a:rPr>
              <a:t>6</a:t>
            </a:r>
            <a:endParaRPr lang="en-US" sz="1100" dirty="0"/>
          </a:p>
        </p:txBody>
      </p:sp>
      <p:sp>
        <p:nvSpPr>
          <p:cNvPr id="6" name="Text 4"/>
          <p:cNvSpPr/>
          <p:nvPr/>
        </p:nvSpPr>
        <p:spPr>
          <a:xfrm>
            <a:off x="548640" y="6400800"/>
            <a:ext cx="8412480" cy="274320"/>
          </a:xfrm>
          <a:prstGeom prst="rect">
            <a:avLst/>
          </a:prstGeom>
          <a:noFill/>
          <a:ln/>
        </p:spPr>
        <p:txBody>
          <a:bodyPr wrap="square" lIns="0" tIns="0" rIns="0" bIns="0" rtlCol="0" anchor="t"/>
          <a:lstStyle/>
          <a:p>
            <a:pPr indent="0" marL="0">
              <a:buNone/>
            </a:pPr>
            <a:r>
              <a:rPr lang="en-US" sz="1100" i="1" dirty="0">
                <a:solidFill>
                  <a:srgbClr val="6C757D"/>
                </a:solidFill>
                <a:latin typeface="Calibri" pitchFamily="34" charset="0"/>
                <a:ea typeface="Calibri" pitchFamily="34" charset="-122"/>
                <a:cs typeface="Calibri" pitchFamily="34" charset="-120"/>
              </a:rPr>
              <a:t>Tangkapan layar: dashboard Power BI SPK_Ade Surya Ananda_2646000083_PowerBI (Power BI Desktop).</a:t>
            </a:r>
            <a:endParaRPr lang="en-US" sz="1100" dirty="0"/>
          </a:p>
        </p:txBody>
      </p:sp>
      <p:sp>
        <p:nvSpPr>
          <p:cNvPr id="7" name="Text 5"/>
          <p:cNvSpPr/>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6C757D"/>
                </a:solidFill>
                <a:latin typeface="Calibri" pitchFamily="34" charset="0"/>
                <a:ea typeface="Calibri" pitchFamily="34" charset="-122"/>
                <a:cs typeface="Calibri" pitchFamily="34" charset="-120"/>
              </a:rPr>
              <a:t>Dashboard BI</a:t>
            </a:r>
            <a:endParaRPr lang="en-US" sz="1000" dirty="0"/>
          </a:p>
        </p:txBody>
      </p:sp>
      <p:pic>
        <p:nvPicPr>
          <p:cNvPr id="9" name="Image 0" descr="preencoded.png">    </p:cNvPr>
          <p:cNvPicPr>
            <a:picLocks noChangeAspect="1"/>
          </p:cNvPicPr>
          <p:nvPr/>
        </p:nvPicPr>
        <p:blipFill>
          <a:blip r:embed="rId1"/>
          <a:stretch>
            <a:fillRect/>
          </a:stretch>
        </p:blipFill>
        <p:spPr>
          <a:xfrm>
            <a:off x="548640" y="1727647"/>
            <a:ext cx="7589520" cy="3859906"/>
          </a:xfrm>
          <a:prstGeom prst="rect">
            <a:avLst/>
          </a:prstGeom>
        </p:spPr>
      </p:pic>
      <p:sp>
        <p:nvSpPr>
          <p:cNvPr id="10" name="Shape 6"/>
          <p:cNvSpPr/>
          <p:nvPr/>
        </p:nvSpPr>
        <p:spPr>
          <a:xfrm>
            <a:off x="548640" y="1727647"/>
            <a:ext cx="7589520" cy="3859906"/>
          </a:xfrm>
          <a:prstGeom prst="rect">
            <a:avLst/>
          </a:prstGeom>
          <a:ln w="12700">
            <a:solidFill>
              <a:srgbClr val="CFDCD4"/>
            </a:solidFill>
            <a:prstDash val="solid"/>
          </a:ln>
        </p:spPr>
      </p:sp>
      <p:sp>
        <p:nvSpPr>
          <p:cNvPr id="11" name="Shape 7"/>
          <p:cNvSpPr/>
          <p:nvPr/>
        </p:nvSpPr>
        <p:spPr>
          <a:xfrm>
            <a:off x="8412480" y="1280160"/>
            <a:ext cx="3227832" cy="1078992"/>
          </a:xfrm>
          <a:prstGeom prst="roundRect">
            <a:avLst>
              <a:gd name="adj" fmla="val 6780"/>
            </a:avLst>
          </a:prstGeom>
          <a:solidFill>
            <a:srgbClr val="EAF3EE"/>
          </a:solidFill>
          <a:ln/>
        </p:spPr>
      </p:sp>
      <p:sp>
        <p:nvSpPr>
          <p:cNvPr id="12" name="Text 8"/>
          <p:cNvSpPr/>
          <p:nvPr/>
        </p:nvSpPr>
        <p:spPr>
          <a:xfrm>
            <a:off x="8577072" y="1371600"/>
            <a:ext cx="2926080" cy="914400"/>
          </a:xfrm>
          <a:prstGeom prst="rect">
            <a:avLst/>
          </a:prstGeom>
          <a:noFill/>
          <a:ln/>
        </p:spPr>
        <p:txBody>
          <a:bodyPr wrap="square" lIns="0" tIns="0" rIns="0" bIns="0" rtlCol="0" anchor="t"/>
          <a:lstStyle/>
          <a:p>
            <a:pPr indent="0" marL="0">
              <a:buNone/>
            </a:pPr>
            <a:r>
              <a:rPr lang="en-US" sz="1600" b="1" dirty="0">
                <a:solidFill>
                  <a:srgbClr val="1B4332"/>
                </a:solidFill>
                <a:latin typeface="Calibri" pitchFamily="34" charset="0"/>
                <a:ea typeface="Calibri" pitchFamily="34" charset="-122"/>
                <a:cs typeface="Calibri" pitchFamily="34" charset="-120"/>
              </a:rPr>
              <a:t>Hierarki visual</a:t>
            </a:r>
            <a:endParaRPr lang="en-US" sz="1600" dirty="0"/>
          </a:p>
          <a:p>
            <a:pPr indent="0" marL="0">
              <a:buNone/>
            </a:pPr>
            <a:r>
              <a:rPr lang="en-US" sz="1300" dirty="0">
                <a:solidFill>
                  <a:srgbClr val="212529"/>
                </a:solidFill>
                <a:latin typeface="Calibri" pitchFamily="34" charset="0"/>
                <a:ea typeface="Calibri" pitchFamily="34" charset="-122"/>
                <a:cs typeface="Calibri" pitchFamily="34" charset="-120"/>
              </a:rPr>
              <a:t>3 kartu KPI (pendapatan, volume, transaksi) di kiri atas, dibaca pertama.</a:t>
            </a:r>
            <a:endParaRPr lang="en-US" sz="1600" dirty="0"/>
          </a:p>
        </p:txBody>
      </p:sp>
      <p:sp>
        <p:nvSpPr>
          <p:cNvPr id="13" name="Shape 9"/>
          <p:cNvSpPr/>
          <p:nvPr/>
        </p:nvSpPr>
        <p:spPr>
          <a:xfrm>
            <a:off x="8412480" y="2496312"/>
            <a:ext cx="3227832" cy="1078992"/>
          </a:xfrm>
          <a:prstGeom prst="roundRect">
            <a:avLst>
              <a:gd name="adj" fmla="val 6780"/>
            </a:avLst>
          </a:prstGeom>
          <a:solidFill>
            <a:srgbClr val="EAF3EE"/>
          </a:solidFill>
          <a:ln/>
        </p:spPr>
      </p:sp>
      <p:sp>
        <p:nvSpPr>
          <p:cNvPr id="14" name="Text 10"/>
          <p:cNvSpPr/>
          <p:nvPr/>
        </p:nvSpPr>
        <p:spPr>
          <a:xfrm>
            <a:off x="8577072" y="2587752"/>
            <a:ext cx="2926080" cy="914400"/>
          </a:xfrm>
          <a:prstGeom prst="rect">
            <a:avLst/>
          </a:prstGeom>
          <a:noFill/>
          <a:ln/>
        </p:spPr>
        <p:txBody>
          <a:bodyPr wrap="square" lIns="0" tIns="0" rIns="0" bIns="0" rtlCol="0" anchor="t"/>
          <a:lstStyle/>
          <a:p>
            <a:pPr indent="0" marL="0">
              <a:buNone/>
            </a:pPr>
            <a:r>
              <a:rPr lang="en-US" sz="1600" b="1" dirty="0">
                <a:solidFill>
                  <a:srgbClr val="1B4332"/>
                </a:solidFill>
                <a:latin typeface="Calibri" pitchFamily="34" charset="0"/>
                <a:ea typeface="Calibri" pitchFamily="34" charset="-122"/>
                <a:cs typeface="Calibri" pitchFamily="34" charset="-120"/>
              </a:rPr>
              <a:t>Satu halaman</a:t>
            </a:r>
            <a:endParaRPr lang="en-US" sz="1600" dirty="0"/>
          </a:p>
          <a:p>
            <a:pPr indent="0" marL="0">
              <a:buNone/>
            </a:pPr>
            <a:r>
              <a:rPr lang="en-US" sz="1300" dirty="0">
                <a:solidFill>
                  <a:srgbClr val="212529"/>
                </a:solidFill>
                <a:latin typeface="Calibri" pitchFamily="34" charset="0"/>
                <a:ea typeface="Calibri" pitchFamily="34" charset="-122"/>
                <a:cs typeface="Calibri" pitchFamily="34" charset="-120"/>
              </a:rPr>
              <a:t>Kelima KPI terlihat tanpa berpindah halaman atau menggulir.</a:t>
            </a:r>
            <a:endParaRPr lang="en-US" sz="1600" dirty="0"/>
          </a:p>
        </p:txBody>
      </p:sp>
      <p:sp>
        <p:nvSpPr>
          <p:cNvPr id="15" name="Shape 11"/>
          <p:cNvSpPr/>
          <p:nvPr/>
        </p:nvSpPr>
        <p:spPr>
          <a:xfrm>
            <a:off x="8412480" y="3712464"/>
            <a:ext cx="3227832" cy="1078992"/>
          </a:xfrm>
          <a:prstGeom prst="roundRect">
            <a:avLst>
              <a:gd name="adj" fmla="val 6780"/>
            </a:avLst>
          </a:prstGeom>
          <a:solidFill>
            <a:srgbClr val="E09F3E"/>
          </a:solidFill>
          <a:ln/>
        </p:spPr>
      </p:sp>
      <p:sp>
        <p:nvSpPr>
          <p:cNvPr id="16" name="Text 12"/>
          <p:cNvSpPr/>
          <p:nvPr/>
        </p:nvSpPr>
        <p:spPr>
          <a:xfrm>
            <a:off x="8577072" y="3803904"/>
            <a:ext cx="2926080" cy="9144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Interaktif</a:t>
            </a:r>
            <a:endParaRPr lang="en-US" sz="1600" dirty="0"/>
          </a:p>
          <a:p>
            <a:pPr indent="0" marL="0">
              <a:buNone/>
            </a:pPr>
            <a:r>
              <a:rPr lang="en-US" sz="1300" dirty="0">
                <a:solidFill>
                  <a:srgbClr val="FFFFFF"/>
                </a:solidFill>
                <a:latin typeface="Calibri" pitchFamily="34" charset="0"/>
                <a:ea typeface="Calibri" pitchFamily="34" charset="-122"/>
                <a:cs typeface="Calibri" pitchFamily="34" charset="-120"/>
              </a:rPr>
              <a:t>Slicer bulan + cross-filter: klik batang, irisan lahan, atau baris pembeli.</a:t>
            </a:r>
            <a:endParaRPr lang="en-US" sz="1600" dirty="0"/>
          </a:p>
        </p:txBody>
      </p:sp>
      <p:sp>
        <p:nvSpPr>
          <p:cNvPr id="17" name="Shape 13"/>
          <p:cNvSpPr/>
          <p:nvPr/>
        </p:nvSpPr>
        <p:spPr>
          <a:xfrm>
            <a:off x="8412480" y="4928616"/>
            <a:ext cx="3227832" cy="1078992"/>
          </a:xfrm>
          <a:prstGeom prst="roundRect">
            <a:avLst>
              <a:gd name="adj" fmla="val 6780"/>
            </a:avLst>
          </a:prstGeom>
          <a:solidFill>
            <a:srgbClr val="EAF3EE"/>
          </a:solidFill>
          <a:ln/>
        </p:spPr>
      </p:sp>
      <p:sp>
        <p:nvSpPr>
          <p:cNvPr id="18" name="Text 14"/>
          <p:cNvSpPr/>
          <p:nvPr/>
        </p:nvSpPr>
        <p:spPr>
          <a:xfrm>
            <a:off x="8577072" y="5020056"/>
            <a:ext cx="2926080" cy="914400"/>
          </a:xfrm>
          <a:prstGeom prst="rect">
            <a:avLst/>
          </a:prstGeom>
          <a:noFill/>
          <a:ln/>
        </p:spPr>
        <p:txBody>
          <a:bodyPr wrap="square" lIns="0" tIns="0" rIns="0" bIns="0" rtlCol="0" anchor="t"/>
          <a:lstStyle/>
          <a:p>
            <a:pPr indent="0" marL="0">
              <a:buNone/>
            </a:pPr>
            <a:r>
              <a:rPr lang="en-US" sz="1600" b="1" dirty="0">
                <a:solidFill>
                  <a:srgbClr val="1B4332"/>
                </a:solidFill>
                <a:latin typeface="Calibri" pitchFamily="34" charset="0"/>
                <a:ea typeface="Calibri" pitchFamily="34" charset="-122"/>
                <a:cs typeface="Calibri" pitchFamily="34" charset="-120"/>
              </a:rPr>
              <a:t>Warna hemat</a:t>
            </a:r>
            <a:endParaRPr lang="en-US" sz="1600" dirty="0"/>
          </a:p>
          <a:p>
            <a:pPr indent="0" marL="0">
              <a:buNone/>
            </a:pPr>
            <a:r>
              <a:rPr lang="en-US" sz="1300" dirty="0">
                <a:solidFill>
                  <a:srgbClr val="212529"/>
                </a:solidFill>
                <a:latin typeface="Calibri" pitchFamily="34" charset="0"/>
                <a:ea typeface="Calibri" pitchFamily="34" charset="-122"/>
                <a:cs typeface="Calibri" pitchFamily="34" charset="-120"/>
              </a:rPr>
              <a:t>Satu warna utama untuk semua batang agar perbandingan tidak terdistraksi.</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548640"/>
          </a:xfrm>
          <a:prstGeom prst="ellipse">
            <a:avLst/>
          </a:prstGeom>
          <a:solidFill>
            <a:srgbClr val="1B4332"/>
          </a:solidFill>
          <a:ln/>
        </p:spPr>
      </p:sp>
      <p:sp>
        <p:nvSpPr>
          <p:cNvPr id="3" name="Text 1"/>
          <p:cNvSpPr/>
          <p:nvPr/>
        </p:nvSpPr>
        <p:spPr>
          <a:xfrm>
            <a:off x="548640" y="384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4" name="Text 2"/>
          <p:cNvSpPr/>
          <p:nvPr/>
        </p:nvSpPr>
        <p:spPr>
          <a:xfrm>
            <a:off x="1280160" y="274320"/>
            <a:ext cx="9997135" cy="868680"/>
          </a:xfrm>
          <a:prstGeom prst="rect">
            <a:avLst/>
          </a:prstGeom>
          <a:noFill/>
          <a:ln/>
        </p:spPr>
        <p:txBody>
          <a:bodyPr wrap="square" lIns="0" tIns="0" rIns="0" bIns="0" rtlCol="0" anchor="ctr">
            <a:normAutofit/>
          </a:bodyPr>
          <a:lstStyle/>
          <a:p>
            <a:pPr indent="0" marL="0">
              <a:buNone/>
            </a:pPr>
            <a:r>
              <a:rPr lang="en-US" sz="2400" b="1" dirty="0">
                <a:solidFill>
                  <a:srgbClr val="1B4332"/>
                </a:solidFill>
                <a:latin typeface="Cambria" pitchFamily="34" charset="0"/>
                <a:ea typeface="Cambria" pitchFamily="34" charset="-122"/>
                <a:cs typeface="Cambria" pitchFamily="34" charset="-120"/>
              </a:rPr>
              <a:t>KPI 1–2: separuh omzet dua bulan datang dari satu minggu panen raya (Minggu-36)</a:t>
            </a:r>
            <a:endParaRPr lang="en-US" sz="2400" dirty="0"/>
          </a:p>
        </p:txBody>
      </p:sp>
      <p:sp>
        <p:nvSpPr>
          <p:cNvPr id="5" name="Text 3"/>
          <p:cNvSpPr/>
          <p:nvPr/>
        </p:nvSpPr>
        <p:spPr>
          <a:xfrm>
            <a:off x="11323015" y="320040"/>
            <a:ext cx="365760" cy="274320"/>
          </a:xfrm>
          <a:prstGeom prst="rect">
            <a:avLst/>
          </a:prstGeom>
          <a:noFill/>
          <a:ln/>
        </p:spPr>
        <p:txBody>
          <a:bodyPr wrap="square" lIns="0" tIns="0" rIns="0" bIns="0" rtlCol="0" anchor="t"/>
          <a:lstStyle/>
          <a:p>
            <a:pPr algn="r" indent="0" marL="0">
              <a:buNone/>
            </a:pPr>
            <a:r>
              <a:rPr lang="en-US" sz="1100" dirty="0">
                <a:solidFill>
                  <a:srgbClr val="6C757D"/>
                </a:solidFill>
                <a:latin typeface="Calibri" pitchFamily="34" charset="0"/>
                <a:ea typeface="Calibri" pitchFamily="34" charset="-122"/>
                <a:cs typeface="Calibri" pitchFamily="34" charset="-120"/>
              </a:rPr>
              <a:t>7</a:t>
            </a:r>
            <a:endParaRPr lang="en-US" sz="1100" dirty="0"/>
          </a:p>
        </p:txBody>
      </p:sp>
      <p:sp>
        <p:nvSpPr>
          <p:cNvPr id="6" name="Text 4"/>
          <p:cNvSpPr/>
          <p:nvPr/>
        </p:nvSpPr>
        <p:spPr>
          <a:xfrm>
            <a:off x="548640" y="6400800"/>
            <a:ext cx="8412480" cy="274320"/>
          </a:xfrm>
          <a:prstGeom prst="rect">
            <a:avLst/>
          </a:prstGeom>
          <a:noFill/>
          <a:ln/>
        </p:spPr>
        <p:txBody>
          <a:bodyPr wrap="square" lIns="0" tIns="0" rIns="0" bIns="0" rtlCol="0" anchor="t"/>
          <a:lstStyle/>
          <a:p>
            <a:pPr indent="0" marL="0">
              <a:buNone/>
            </a:pPr>
            <a:r>
              <a:rPr lang="en-US" sz="1100" i="1" dirty="0">
                <a:solidFill>
                  <a:srgbClr val="6C757D"/>
                </a:solidFill>
                <a:latin typeface="Calibri" pitchFamily="34" charset="0"/>
                <a:ea typeface="Calibri" pitchFamily="34" charset="-122"/>
                <a:cs typeface="Calibri" pitchFamily="34" charset="-120"/>
              </a:rPr>
              <a:t>Sumber: buku kasir kebun produksi BBPP Ketindan, 3 Agustus–25 September 2026 (diolah).</a:t>
            </a:r>
            <a:endParaRPr lang="en-US" sz="1100" dirty="0"/>
          </a:p>
        </p:txBody>
      </p:sp>
      <p:sp>
        <p:nvSpPr>
          <p:cNvPr id="7" name="Text 5"/>
          <p:cNvSpPr/>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6C757D"/>
                </a:solidFill>
                <a:latin typeface="Calibri" pitchFamily="34" charset="0"/>
                <a:ea typeface="Calibri" pitchFamily="34" charset="-122"/>
                <a:cs typeface="Calibri" pitchFamily="34" charset="-120"/>
              </a:rPr>
              <a:t>Hasil KPI 1–2</a:t>
            </a:r>
            <a:endParaRPr lang="en-US" sz="1000" dirty="0"/>
          </a:p>
        </p:txBody>
      </p:sp>
      <p:graphicFrame>
        <p:nvGraphicFramePr>
          <p:cNvPr id="9" name="Chart 0" descr=""/>
          <p:cNvGraphicFramePr/>
          <p:nvPr/>
        </p:nvGraphicFramePr>
        <p:xfrm>
          <a:off x="548640" y="1280160"/>
          <a:ext cx="7589520" cy="434340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p:nvPr/>
        </p:nvSpPr>
        <p:spPr>
          <a:xfrm>
            <a:off x="548640" y="5669280"/>
            <a:ext cx="7589520" cy="365760"/>
          </a:xfrm>
          <a:prstGeom prst="rect">
            <a:avLst/>
          </a:prstGeom>
          <a:noFill/>
          <a:ln/>
        </p:spPr>
        <p:txBody>
          <a:bodyPr wrap="square" lIns="0" tIns="0" rIns="0" bIns="0" rtlCol="0" anchor="t"/>
          <a:lstStyle/>
          <a:p>
            <a:pPr indent="0" marL="0">
              <a:buNone/>
            </a:pPr>
            <a:r>
              <a:rPr lang="en-US" sz="1200" i="1" dirty="0">
                <a:solidFill>
                  <a:srgbClr val="6C757D"/>
                </a:solidFill>
                <a:latin typeface="Calibri" pitchFamily="34" charset="0"/>
                <a:ea typeface="Calibri" pitchFamily="34" charset="-122"/>
                <a:cs typeface="Calibri" pitchFamily="34" charset="-120"/>
              </a:rPr>
              <a:t>Pendapatan per minggu ISO (M-32 = 3–9 Agustus). Minggu-36: Rp 11,40 Jt dari Melon Sweet Lavender.</a:t>
            </a:r>
            <a:endParaRPr lang="en-US" sz="1200" dirty="0"/>
          </a:p>
        </p:txBody>
      </p:sp>
      <p:sp>
        <p:nvSpPr>
          <p:cNvPr id="11" name="Shape 7"/>
          <p:cNvSpPr/>
          <p:nvPr/>
        </p:nvSpPr>
        <p:spPr>
          <a:xfrm>
            <a:off x="8412480" y="1280160"/>
            <a:ext cx="3227832" cy="987552"/>
          </a:xfrm>
          <a:prstGeom prst="roundRect">
            <a:avLst>
              <a:gd name="adj" fmla="val 7407"/>
            </a:avLst>
          </a:prstGeom>
          <a:solidFill>
            <a:srgbClr val="EAF3EE"/>
          </a:solidFill>
          <a:ln/>
        </p:spPr>
      </p:sp>
      <p:sp>
        <p:nvSpPr>
          <p:cNvPr id="12" name="Text 8"/>
          <p:cNvSpPr/>
          <p:nvPr/>
        </p:nvSpPr>
        <p:spPr>
          <a:xfrm>
            <a:off x="8595360" y="1353312"/>
            <a:ext cx="2926080" cy="548640"/>
          </a:xfrm>
          <a:prstGeom prst="rect">
            <a:avLst/>
          </a:prstGeom>
          <a:noFill/>
          <a:ln/>
        </p:spPr>
        <p:txBody>
          <a:bodyPr wrap="square" lIns="0" tIns="0" rIns="0" bIns="0" rtlCol="0" anchor="ctr"/>
          <a:lstStyle/>
          <a:p>
            <a:pPr indent="0" marL="0">
              <a:buNone/>
            </a:pPr>
            <a:r>
              <a:rPr lang="en-US" sz="2800" b="1" dirty="0">
                <a:solidFill>
                  <a:srgbClr val="1B4332"/>
                </a:solidFill>
                <a:latin typeface="Cambria" pitchFamily="34" charset="0"/>
                <a:ea typeface="Cambria" pitchFamily="34" charset="-122"/>
                <a:cs typeface="Cambria" pitchFamily="34" charset="-120"/>
              </a:rPr>
              <a:t>Rp 10,60 Jt</a:t>
            </a:r>
            <a:endParaRPr lang="en-US" sz="2800" dirty="0"/>
          </a:p>
        </p:txBody>
      </p:sp>
      <p:sp>
        <p:nvSpPr>
          <p:cNvPr id="13" name="Text 9"/>
          <p:cNvSpPr/>
          <p:nvPr/>
        </p:nvSpPr>
        <p:spPr>
          <a:xfrm>
            <a:off x="8595360" y="1883664"/>
            <a:ext cx="2926080" cy="320040"/>
          </a:xfrm>
          <a:prstGeom prst="rect">
            <a:avLst/>
          </a:prstGeom>
          <a:noFill/>
          <a:ln/>
        </p:spPr>
        <p:txBody>
          <a:bodyPr wrap="square" lIns="0" tIns="0" rIns="0" bIns="0" rtlCol="0" anchor="t"/>
          <a:lstStyle/>
          <a:p>
            <a:pPr indent="0" marL="0">
              <a:buNone/>
            </a:pPr>
            <a:r>
              <a:rPr lang="en-US" sz="1400" dirty="0">
                <a:solidFill>
                  <a:srgbClr val="6C757D"/>
                </a:solidFill>
                <a:latin typeface="Calibri" pitchFamily="34" charset="0"/>
                <a:ea typeface="Calibri" pitchFamily="34" charset="-122"/>
                <a:cs typeface="Calibri" pitchFamily="34" charset="-120"/>
              </a:rPr>
              <a:t>Agustus (KPI 2)</a:t>
            </a:r>
            <a:endParaRPr lang="en-US" sz="1400" dirty="0"/>
          </a:p>
        </p:txBody>
      </p:sp>
      <p:sp>
        <p:nvSpPr>
          <p:cNvPr id="14" name="Shape 10"/>
          <p:cNvSpPr/>
          <p:nvPr/>
        </p:nvSpPr>
        <p:spPr>
          <a:xfrm>
            <a:off x="8412480" y="2395728"/>
            <a:ext cx="3227832" cy="987552"/>
          </a:xfrm>
          <a:prstGeom prst="roundRect">
            <a:avLst>
              <a:gd name="adj" fmla="val 7407"/>
            </a:avLst>
          </a:prstGeom>
          <a:solidFill>
            <a:srgbClr val="EAF3EE"/>
          </a:solidFill>
          <a:ln/>
        </p:spPr>
      </p:sp>
      <p:sp>
        <p:nvSpPr>
          <p:cNvPr id="15" name="Text 11"/>
          <p:cNvSpPr/>
          <p:nvPr/>
        </p:nvSpPr>
        <p:spPr>
          <a:xfrm>
            <a:off x="8595360" y="2468880"/>
            <a:ext cx="2926080" cy="548640"/>
          </a:xfrm>
          <a:prstGeom prst="rect">
            <a:avLst/>
          </a:prstGeom>
          <a:noFill/>
          <a:ln/>
        </p:spPr>
        <p:txBody>
          <a:bodyPr wrap="square" lIns="0" tIns="0" rIns="0" bIns="0" rtlCol="0" anchor="ctr"/>
          <a:lstStyle/>
          <a:p>
            <a:pPr indent="0" marL="0">
              <a:buNone/>
            </a:pPr>
            <a:r>
              <a:rPr lang="en-US" sz="2800" b="1" dirty="0">
                <a:solidFill>
                  <a:srgbClr val="1B4332"/>
                </a:solidFill>
                <a:latin typeface="Cambria" pitchFamily="34" charset="0"/>
                <a:ea typeface="Cambria" pitchFamily="34" charset="-122"/>
                <a:cs typeface="Cambria" pitchFamily="34" charset="-120"/>
              </a:rPr>
              <a:t>Rp 19,22 Jt</a:t>
            </a:r>
            <a:endParaRPr lang="en-US" sz="2800" dirty="0"/>
          </a:p>
        </p:txBody>
      </p:sp>
      <p:sp>
        <p:nvSpPr>
          <p:cNvPr id="16" name="Text 12"/>
          <p:cNvSpPr/>
          <p:nvPr/>
        </p:nvSpPr>
        <p:spPr>
          <a:xfrm>
            <a:off x="8595360" y="2999232"/>
            <a:ext cx="2926080" cy="320040"/>
          </a:xfrm>
          <a:prstGeom prst="rect">
            <a:avLst/>
          </a:prstGeom>
          <a:noFill/>
          <a:ln/>
        </p:spPr>
        <p:txBody>
          <a:bodyPr wrap="square" lIns="0" tIns="0" rIns="0" bIns="0" rtlCol="0" anchor="t"/>
          <a:lstStyle/>
          <a:p>
            <a:pPr indent="0" marL="0">
              <a:buNone/>
            </a:pPr>
            <a:r>
              <a:rPr lang="en-US" sz="1400" dirty="0">
                <a:solidFill>
                  <a:srgbClr val="6C757D"/>
                </a:solidFill>
                <a:latin typeface="Calibri" pitchFamily="34" charset="0"/>
                <a:ea typeface="Calibri" pitchFamily="34" charset="-122"/>
                <a:cs typeface="Calibri" pitchFamily="34" charset="-120"/>
              </a:rPr>
              <a:t>September (KPI 2)</a:t>
            </a:r>
            <a:endParaRPr lang="en-US" sz="1400" dirty="0"/>
          </a:p>
        </p:txBody>
      </p:sp>
      <p:sp>
        <p:nvSpPr>
          <p:cNvPr id="17" name="Shape 13"/>
          <p:cNvSpPr/>
          <p:nvPr/>
        </p:nvSpPr>
        <p:spPr>
          <a:xfrm>
            <a:off x="8412480" y="3511296"/>
            <a:ext cx="3227832" cy="987552"/>
          </a:xfrm>
          <a:prstGeom prst="roundRect">
            <a:avLst>
              <a:gd name="adj" fmla="val 7407"/>
            </a:avLst>
          </a:prstGeom>
          <a:solidFill>
            <a:srgbClr val="EAF3EE"/>
          </a:solidFill>
          <a:ln/>
        </p:spPr>
      </p:sp>
      <p:sp>
        <p:nvSpPr>
          <p:cNvPr id="18" name="Text 14"/>
          <p:cNvSpPr/>
          <p:nvPr/>
        </p:nvSpPr>
        <p:spPr>
          <a:xfrm>
            <a:off x="8595360" y="3584448"/>
            <a:ext cx="2926080" cy="548640"/>
          </a:xfrm>
          <a:prstGeom prst="rect">
            <a:avLst/>
          </a:prstGeom>
          <a:noFill/>
          <a:ln/>
        </p:spPr>
        <p:txBody>
          <a:bodyPr wrap="square" lIns="0" tIns="0" rIns="0" bIns="0" rtlCol="0" anchor="ctr"/>
          <a:lstStyle/>
          <a:p>
            <a:pPr indent="0" marL="0">
              <a:buNone/>
            </a:pPr>
            <a:r>
              <a:rPr lang="en-US" sz="2800" b="1" dirty="0">
                <a:solidFill>
                  <a:srgbClr val="1B4332"/>
                </a:solidFill>
                <a:latin typeface="Cambria" pitchFamily="34" charset="0"/>
                <a:ea typeface="Cambria" pitchFamily="34" charset="-122"/>
                <a:cs typeface="Cambria" pitchFamily="34" charset="-120"/>
              </a:rPr>
              <a:t>+81,4%</a:t>
            </a:r>
            <a:endParaRPr lang="en-US" sz="2800" dirty="0"/>
          </a:p>
        </p:txBody>
      </p:sp>
      <p:sp>
        <p:nvSpPr>
          <p:cNvPr id="19" name="Text 15"/>
          <p:cNvSpPr/>
          <p:nvPr/>
        </p:nvSpPr>
        <p:spPr>
          <a:xfrm>
            <a:off x="8595360" y="4114800"/>
            <a:ext cx="2926080" cy="320040"/>
          </a:xfrm>
          <a:prstGeom prst="rect">
            <a:avLst/>
          </a:prstGeom>
          <a:noFill/>
          <a:ln/>
        </p:spPr>
        <p:txBody>
          <a:bodyPr wrap="square" lIns="0" tIns="0" rIns="0" bIns="0" rtlCol="0" anchor="t"/>
          <a:lstStyle/>
          <a:p>
            <a:pPr indent="0" marL="0">
              <a:buNone/>
            </a:pPr>
            <a:r>
              <a:rPr lang="en-US" sz="1400" dirty="0">
                <a:solidFill>
                  <a:srgbClr val="6C757D"/>
                </a:solidFill>
                <a:latin typeface="Calibri" pitchFamily="34" charset="0"/>
                <a:ea typeface="Calibri" pitchFamily="34" charset="-122"/>
                <a:cs typeface="Calibri" pitchFamily="34" charset="-120"/>
              </a:rPr>
              <a:t>kenaikan September vs Agustus</a:t>
            </a:r>
            <a:endParaRPr lang="en-US" sz="1400" dirty="0"/>
          </a:p>
        </p:txBody>
      </p:sp>
      <p:sp>
        <p:nvSpPr>
          <p:cNvPr id="20" name="Shape 16"/>
          <p:cNvSpPr/>
          <p:nvPr/>
        </p:nvSpPr>
        <p:spPr>
          <a:xfrm>
            <a:off x="8412480" y="4626864"/>
            <a:ext cx="3227832" cy="987552"/>
          </a:xfrm>
          <a:prstGeom prst="roundRect">
            <a:avLst>
              <a:gd name="adj" fmla="val 7407"/>
            </a:avLst>
          </a:prstGeom>
          <a:solidFill>
            <a:srgbClr val="FBEAE8"/>
          </a:solidFill>
          <a:ln/>
        </p:spPr>
      </p:sp>
      <p:sp>
        <p:nvSpPr>
          <p:cNvPr id="21" name="Text 17"/>
          <p:cNvSpPr/>
          <p:nvPr/>
        </p:nvSpPr>
        <p:spPr>
          <a:xfrm>
            <a:off x="8595360" y="4700016"/>
            <a:ext cx="2926080" cy="548640"/>
          </a:xfrm>
          <a:prstGeom prst="rect">
            <a:avLst/>
          </a:prstGeom>
          <a:noFill/>
          <a:ln/>
        </p:spPr>
        <p:txBody>
          <a:bodyPr wrap="square" lIns="0" tIns="0" rIns="0" bIns="0" rtlCol="0" anchor="ctr"/>
          <a:lstStyle/>
          <a:p>
            <a:pPr indent="0" marL="0">
              <a:buNone/>
            </a:pPr>
            <a:r>
              <a:rPr lang="en-US" sz="2800" b="1" dirty="0">
                <a:solidFill>
                  <a:srgbClr val="C0392B"/>
                </a:solidFill>
                <a:latin typeface="Cambria" pitchFamily="34" charset="0"/>
                <a:ea typeface="Cambria" pitchFamily="34" charset="-122"/>
                <a:cs typeface="Cambria" pitchFamily="34" charset="-120"/>
              </a:rPr>
              <a:t>50,7%</a:t>
            </a:r>
            <a:endParaRPr lang="en-US" sz="2800" dirty="0"/>
          </a:p>
        </p:txBody>
      </p:sp>
      <p:sp>
        <p:nvSpPr>
          <p:cNvPr id="22" name="Text 18"/>
          <p:cNvSpPr/>
          <p:nvPr/>
        </p:nvSpPr>
        <p:spPr>
          <a:xfrm>
            <a:off x="8595360" y="5230368"/>
            <a:ext cx="2926080" cy="320040"/>
          </a:xfrm>
          <a:prstGeom prst="rect">
            <a:avLst/>
          </a:prstGeom>
          <a:noFill/>
          <a:ln/>
        </p:spPr>
        <p:txBody>
          <a:bodyPr wrap="square" lIns="0" tIns="0" rIns="0" bIns="0" rtlCol="0" anchor="t"/>
          <a:lstStyle/>
          <a:p>
            <a:pPr indent="0" marL="0">
              <a:buNone/>
            </a:pPr>
            <a:r>
              <a:rPr lang="en-US" sz="1400" dirty="0">
                <a:solidFill>
                  <a:srgbClr val="6C757D"/>
                </a:solidFill>
                <a:latin typeface="Calibri" pitchFamily="34" charset="0"/>
                <a:ea typeface="Calibri" pitchFamily="34" charset="-122"/>
                <a:cs typeface="Calibri" pitchFamily="34" charset="-120"/>
              </a:rPr>
              <a:t>omzet 2 bulan jatuh di Minggu-36</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548640"/>
          </a:xfrm>
          <a:prstGeom prst="ellipse">
            <a:avLst/>
          </a:prstGeom>
          <a:solidFill>
            <a:srgbClr val="1B4332"/>
          </a:solidFill>
          <a:ln/>
        </p:spPr>
      </p:sp>
      <p:sp>
        <p:nvSpPr>
          <p:cNvPr id="3" name="Text 1"/>
          <p:cNvSpPr/>
          <p:nvPr/>
        </p:nvSpPr>
        <p:spPr>
          <a:xfrm>
            <a:off x="548640" y="384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4" name="Text 2"/>
          <p:cNvSpPr/>
          <p:nvPr/>
        </p:nvSpPr>
        <p:spPr>
          <a:xfrm>
            <a:off x="1280160" y="274320"/>
            <a:ext cx="9997135" cy="868680"/>
          </a:xfrm>
          <a:prstGeom prst="rect">
            <a:avLst/>
          </a:prstGeom>
          <a:noFill/>
          <a:ln/>
        </p:spPr>
        <p:txBody>
          <a:bodyPr wrap="square" lIns="0" tIns="0" rIns="0" bIns="0" rtlCol="0" anchor="ctr">
            <a:normAutofit/>
          </a:bodyPr>
          <a:lstStyle/>
          <a:p>
            <a:pPr indent="0" marL="0">
              <a:buNone/>
            </a:pPr>
            <a:r>
              <a:rPr lang="en-US" sz="2400" b="1" dirty="0">
                <a:solidFill>
                  <a:srgbClr val="1B4332"/>
                </a:solidFill>
                <a:latin typeface="Cambria" pitchFamily="34" charset="0"/>
                <a:ea typeface="Cambria" pitchFamily="34" charset="-122"/>
                <a:cs typeface="Cambria" pitchFamily="34" charset="-120"/>
              </a:rPr>
              <a:t>KPI 3–5: dua komoditas menyumbang 80,6% omzet, dua pembeli grosir 18,7%</a:t>
            </a:r>
            <a:endParaRPr lang="en-US" sz="2400" dirty="0"/>
          </a:p>
        </p:txBody>
      </p:sp>
      <p:sp>
        <p:nvSpPr>
          <p:cNvPr id="5" name="Text 3"/>
          <p:cNvSpPr/>
          <p:nvPr/>
        </p:nvSpPr>
        <p:spPr>
          <a:xfrm>
            <a:off x="11323015" y="320040"/>
            <a:ext cx="365760" cy="274320"/>
          </a:xfrm>
          <a:prstGeom prst="rect">
            <a:avLst/>
          </a:prstGeom>
          <a:noFill/>
          <a:ln/>
        </p:spPr>
        <p:txBody>
          <a:bodyPr wrap="square" lIns="0" tIns="0" rIns="0" bIns="0" rtlCol="0" anchor="t"/>
          <a:lstStyle/>
          <a:p>
            <a:pPr algn="r" indent="0" marL="0">
              <a:buNone/>
            </a:pPr>
            <a:r>
              <a:rPr lang="en-US" sz="1100" dirty="0">
                <a:solidFill>
                  <a:srgbClr val="6C757D"/>
                </a:solidFill>
                <a:latin typeface="Calibri" pitchFamily="34" charset="0"/>
                <a:ea typeface="Calibri" pitchFamily="34" charset="-122"/>
                <a:cs typeface="Calibri" pitchFamily="34" charset="-120"/>
              </a:rPr>
              <a:t>8</a:t>
            </a:r>
            <a:endParaRPr lang="en-US" sz="1100" dirty="0"/>
          </a:p>
        </p:txBody>
      </p:sp>
      <p:sp>
        <p:nvSpPr>
          <p:cNvPr id="6" name="Text 4"/>
          <p:cNvSpPr/>
          <p:nvPr/>
        </p:nvSpPr>
        <p:spPr>
          <a:xfrm>
            <a:off x="548640" y="6400800"/>
            <a:ext cx="8412480" cy="274320"/>
          </a:xfrm>
          <a:prstGeom prst="rect">
            <a:avLst/>
          </a:prstGeom>
          <a:noFill/>
          <a:ln/>
        </p:spPr>
        <p:txBody>
          <a:bodyPr wrap="square" lIns="0" tIns="0" rIns="0" bIns="0" rtlCol="0" anchor="t"/>
          <a:lstStyle/>
          <a:p>
            <a:pPr indent="0" marL="0">
              <a:buNone/>
            </a:pPr>
            <a:r>
              <a:rPr lang="en-US" sz="1100" i="1" dirty="0">
                <a:solidFill>
                  <a:srgbClr val="6C757D"/>
                </a:solidFill>
                <a:latin typeface="Calibri" pitchFamily="34" charset="0"/>
                <a:ea typeface="Calibri" pitchFamily="34" charset="-122"/>
                <a:cs typeface="Calibri" pitchFamily="34" charset="-120"/>
              </a:rPr>
              <a:t>Sumber: buku kasir kebun produksi BBPP Ketindan, 3 Agustus–25 September 2026 (diolah).</a:t>
            </a:r>
            <a:endParaRPr lang="en-US" sz="1100" dirty="0"/>
          </a:p>
        </p:txBody>
      </p:sp>
      <p:sp>
        <p:nvSpPr>
          <p:cNvPr id="7" name="Text 5"/>
          <p:cNvSpPr/>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6C757D"/>
                </a:solidFill>
                <a:latin typeface="Calibri" pitchFamily="34" charset="0"/>
                <a:ea typeface="Calibri" pitchFamily="34" charset="-122"/>
                <a:cs typeface="Calibri" pitchFamily="34" charset="-120"/>
              </a:rPr>
              <a:t>Hasil KPI 3–5</a:t>
            </a:r>
            <a:endParaRPr lang="en-US" sz="1000" dirty="0"/>
          </a:p>
        </p:txBody>
      </p:sp>
      <p:graphicFrame>
        <p:nvGraphicFramePr>
          <p:cNvPr id="9" name="Chart 0" descr=""/>
          <p:cNvGraphicFramePr/>
          <p:nvPr/>
        </p:nvGraphicFramePr>
        <p:xfrm>
          <a:off x="548640" y="1280160"/>
          <a:ext cx="6035040" cy="443484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p:nvPr/>
        </p:nvSpPr>
        <p:spPr>
          <a:xfrm>
            <a:off x="548640" y="5760720"/>
            <a:ext cx="6035040" cy="320040"/>
          </a:xfrm>
          <a:prstGeom prst="rect">
            <a:avLst/>
          </a:prstGeom>
          <a:noFill/>
          <a:ln/>
        </p:spPr>
        <p:txBody>
          <a:bodyPr wrap="square" lIns="0" tIns="0" rIns="0" bIns="0" rtlCol="0" anchor="t"/>
          <a:lstStyle/>
          <a:p>
            <a:pPr indent="0" marL="0">
              <a:buNone/>
            </a:pPr>
            <a:r>
              <a:rPr lang="en-US" sz="1200" i="1" dirty="0">
                <a:solidFill>
                  <a:srgbClr val="6C757D"/>
                </a:solidFill>
                <a:latin typeface="Calibri" pitchFamily="34" charset="0"/>
                <a:ea typeface="Calibri" pitchFamily="34" charset="-122"/>
                <a:cs typeface="Calibri" pitchFamily="34" charset="-120"/>
              </a:rPr>
              <a:t>Lainnya (8 komoditas) = Rp 0,68 Jt.</a:t>
            </a:r>
            <a:endParaRPr lang="en-US" sz="1200" dirty="0"/>
          </a:p>
        </p:txBody>
      </p:sp>
      <p:sp>
        <p:nvSpPr>
          <p:cNvPr id="11" name="Text 7"/>
          <p:cNvSpPr/>
          <p:nvPr/>
        </p:nvSpPr>
        <p:spPr>
          <a:xfrm>
            <a:off x="6903720" y="1280160"/>
            <a:ext cx="4754880" cy="320040"/>
          </a:xfrm>
          <a:prstGeom prst="rect">
            <a:avLst/>
          </a:prstGeom>
          <a:noFill/>
          <a:ln/>
        </p:spPr>
        <p:txBody>
          <a:bodyPr wrap="square" lIns="0" tIns="0" rIns="0" bIns="0" rtlCol="0" anchor="t"/>
          <a:lstStyle/>
          <a:p>
            <a:pPr indent="0" marL="0">
              <a:buNone/>
            </a:pPr>
            <a:r>
              <a:rPr lang="en-US" sz="1400" b="1" dirty="0">
                <a:solidFill>
                  <a:srgbClr val="1B4332"/>
                </a:solidFill>
                <a:latin typeface="Calibri" pitchFamily="34" charset="0"/>
                <a:ea typeface="Calibri" pitchFamily="34" charset="-122"/>
                <a:cs typeface="Calibri" pitchFamily="34" charset="-120"/>
              </a:rPr>
              <a:t>KPI 4 · Volume terjual terbanyak</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03720" y="1645920"/>
          <a:ext cx="9144000" cy="914400"/>
        </p:xfrm>
        <a:graphic>
          <a:graphicData uri="http://schemas.openxmlformats.org/drawingml/2006/table">
            <a:tbl>
              <a:tblPr/>
              <a:tblGrid>
                <a:gridCol w="2468880"/>
                <a:gridCol w="1143000"/>
                <a:gridCol w="1124712"/>
              </a:tblGrid>
              <a:tr h="30175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Komoditas</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1B433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Volume</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1B433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Satuan</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1B4332"/>
                    </a:solidFill>
                  </a:tcPr>
                </a:tc>
              </a:tr>
              <a:tr h="301752">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Melon Sweet Lavender</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859,7</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Kg</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r>
              <a:tr h="301752">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Pete</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487</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Pack</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r>
              <a:tr h="301752">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Tomat Cherry</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372,5</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Kg</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r>
              <a:tr h="301752">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Melon Sweet Hammy</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184,8</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Kg</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r>
            </a:tbl>
          </a:graphicData>
        </a:graphic>
      </p:graphicFrame>
      <p:sp>
        <p:nvSpPr>
          <p:cNvPr id="13" name="Text 8"/>
          <p:cNvSpPr/>
          <p:nvPr/>
        </p:nvSpPr>
        <p:spPr>
          <a:xfrm>
            <a:off x="6903720" y="3337560"/>
            <a:ext cx="4754880" cy="320040"/>
          </a:xfrm>
          <a:prstGeom prst="rect">
            <a:avLst/>
          </a:prstGeom>
          <a:noFill/>
          <a:ln/>
        </p:spPr>
        <p:txBody>
          <a:bodyPr wrap="square" lIns="0" tIns="0" rIns="0" bIns="0" rtlCol="0" anchor="t"/>
          <a:lstStyle/>
          <a:p>
            <a:pPr indent="0" marL="0">
              <a:buNone/>
            </a:pPr>
            <a:r>
              <a:rPr lang="en-US" sz="1400" b="1" dirty="0">
                <a:solidFill>
                  <a:srgbClr val="1B4332"/>
                </a:solidFill>
                <a:latin typeface="Calibri" pitchFamily="34" charset="0"/>
                <a:ea typeface="Calibri" pitchFamily="34" charset="-122"/>
                <a:cs typeface="Calibri" pitchFamily="34" charset="-120"/>
              </a:rPr>
              <a:t>KPI 5 · Pembeli dengan belanja terbanyak</a:t>
            </a:r>
            <a:endParaRPr lang="en-US" sz="14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903720" y="3703320"/>
          <a:ext cx="9144000" cy="914400"/>
        </p:xfrm>
        <a:graphic>
          <a:graphicData uri="http://schemas.openxmlformats.org/drawingml/2006/table">
            <a:tbl>
              <a:tblPr/>
              <a:tblGrid>
                <a:gridCol w="2377440"/>
                <a:gridCol w="1417320"/>
                <a:gridCol w="941832"/>
              </a:tblGrid>
              <a:tr h="30175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Pembeli</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1B433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Belanja</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1B433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 omzet</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1B4332"/>
                    </a:solidFill>
                  </a:tcPr>
                </a:tc>
              </a:tr>
              <a:tr h="301752">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B Rara Surabaya</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Rp 2.868.000</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9,6%</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r>
              <a:tr h="301752">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P Joni Batu</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Rp 2.698.000</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r>
              <a:tr h="301752">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Pembeli perorangan*</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Rp 951.800</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r>
              <a:tr h="301752">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B Sari Vendor GH</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Rp 855.000</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2,9%</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5F8F6"/>
                    </a:solidFill>
                  </a:tcPr>
                </a:tc>
              </a:tr>
              <a:tr h="301752">
                <a:tc>
                  <a:txBody>
                    <a:bodyPr/>
                    <a:lstStyle/>
                    <a:p>
                      <a:pPr algn="l" indent="0" marL="0">
                        <a:buNone/>
                      </a:pPr>
                      <a:r>
                        <a:rPr lang="en-US" sz="1300" dirty="0">
                          <a:solidFill>
                            <a:srgbClr val="212529"/>
                          </a:solidFill>
                          <a:latin typeface="Calibri" pitchFamily="34" charset="0"/>
                          <a:ea typeface="Calibri" pitchFamily="34" charset="-122"/>
                          <a:cs typeface="Calibri" pitchFamily="34" charset="-120"/>
                        </a:rPr>
                        <a:t>Agrifresh Malang</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Rp 806.500</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12529"/>
                          </a:solidFill>
                          <a:latin typeface="Calibri" pitchFamily="34" charset="0"/>
                          <a:ea typeface="Calibri" pitchFamily="34" charset="-122"/>
                          <a:cs typeface="Calibri" pitchFamily="34" charset="-120"/>
                        </a:rPr>
                        <a:t>2,7%</a:t>
                      </a:r>
                      <a:endParaRPr lang="en-US" sz="1300" dirty="0">
                        <a:latin typeface="Calibri" charset="0"/>
                        <a:ea typeface="Calibri" charset="0"/>
                        <a:cs typeface="Calibri" charset="0"/>
                      </a:endParaRPr>
                    </a:p>
                  </a:txBody>
                  <a:tcPr marL="73152" marR="73152" marT="36576" marB="36576" anchor="ctr">
                    <a:lnL w="6350" cap="flat" cmpd="sng" algn="ctr">
                      <a:solidFill>
                        <a:srgbClr val="CFDCD4"/>
                      </a:solidFill>
                      <a:prstDash val="solid"/>
                      <a:round/>
                      <a:headEnd type="none" w="med" len="med"/>
                      <a:tailEnd type="none" w="med" len="med"/>
                    </a:lnL>
                    <a:lnR w="6350" cap="flat" cmpd="sng" algn="ctr">
                      <a:solidFill>
                        <a:srgbClr val="CFDCD4"/>
                      </a:solidFill>
                      <a:prstDash val="solid"/>
                      <a:round/>
                      <a:headEnd type="none" w="med" len="med"/>
                      <a:tailEnd type="none" w="med" len="med"/>
                    </a:lnR>
                    <a:lnT w="6350" cap="flat" cmpd="sng" algn="ctr">
                      <a:solidFill>
                        <a:srgbClr val="CFDCD4"/>
                      </a:solidFill>
                      <a:prstDash val="solid"/>
                      <a:round/>
                      <a:headEnd type="none" w="med" len="med"/>
                      <a:tailEnd type="none" w="med" len="med"/>
                    </a:lnT>
                    <a:lnB w="6350" cap="flat" cmpd="sng" algn="ctr">
                      <a:solidFill>
                        <a:srgbClr val="CFDCD4"/>
                      </a:solidFill>
                      <a:prstDash val="solid"/>
                      <a:round/>
                      <a:headEnd type="none" w="med" len="med"/>
                      <a:tailEnd type="none" w="med" len="med"/>
                    </a:lnB>
                    <a:solidFill>
                      <a:srgbClr val="FFFFFF"/>
                    </a:solidFill>
                  </a:tcPr>
                </a:tc>
              </a:tr>
            </a:tbl>
          </a:graphicData>
        </a:graphic>
      </p:graphicFrame>
      <p:sp>
        <p:nvSpPr>
          <p:cNvPr id="15" name="Text 9"/>
          <p:cNvSpPr/>
          <p:nvPr/>
        </p:nvSpPr>
        <p:spPr>
          <a:xfrm>
            <a:off x="6903720" y="5577840"/>
            <a:ext cx="4754880" cy="457200"/>
          </a:xfrm>
          <a:prstGeom prst="rect">
            <a:avLst/>
          </a:prstGeom>
          <a:noFill/>
          <a:ln/>
        </p:spPr>
        <p:txBody>
          <a:bodyPr wrap="square" lIns="0" tIns="0" rIns="0" bIns="0" rtlCol="0" anchor="t"/>
          <a:lstStyle/>
          <a:p>
            <a:pPr indent="0" marL="0">
              <a:buNone/>
            </a:pPr>
            <a:r>
              <a:rPr lang="en-US" sz="1200" i="1" dirty="0">
                <a:solidFill>
                  <a:srgbClr val="6C757D"/>
                </a:solidFill>
                <a:latin typeface="Calibri" pitchFamily="34" charset="0"/>
                <a:ea typeface="Calibri" pitchFamily="34" charset="-122"/>
                <a:cs typeface="Calibri" pitchFamily="34" charset="-120"/>
              </a:rPr>
              <a:t>*nama disamarkan. 193 dari 214 pembeli berbelanja total &lt; Rp 300.000.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548640"/>
          </a:xfrm>
          <a:prstGeom prst="ellipse">
            <a:avLst/>
          </a:prstGeom>
          <a:solidFill>
            <a:srgbClr val="1B4332"/>
          </a:solidFill>
          <a:ln/>
        </p:spPr>
      </p:sp>
      <p:sp>
        <p:nvSpPr>
          <p:cNvPr id="3" name="Text 1"/>
          <p:cNvSpPr/>
          <p:nvPr/>
        </p:nvSpPr>
        <p:spPr>
          <a:xfrm>
            <a:off x="548640" y="384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4" name="Text 2"/>
          <p:cNvSpPr/>
          <p:nvPr/>
        </p:nvSpPr>
        <p:spPr>
          <a:xfrm>
            <a:off x="1280160" y="274320"/>
            <a:ext cx="9997135" cy="868680"/>
          </a:xfrm>
          <a:prstGeom prst="rect">
            <a:avLst/>
          </a:prstGeom>
          <a:noFill/>
          <a:ln/>
        </p:spPr>
        <p:txBody>
          <a:bodyPr wrap="square" lIns="0" tIns="0" rIns="0" bIns="0" rtlCol="0" anchor="ctr">
            <a:normAutofit/>
          </a:bodyPr>
          <a:lstStyle/>
          <a:p>
            <a:pPr indent="0" marL="0">
              <a:buNone/>
            </a:pPr>
            <a:r>
              <a:rPr lang="en-US" sz="2400" b="1" dirty="0">
                <a:solidFill>
                  <a:srgbClr val="1B4332"/>
                </a:solidFill>
                <a:latin typeface="Cambria" pitchFamily="34" charset="0"/>
                <a:ea typeface="Cambria" pitchFamily="34" charset="-122"/>
                <a:cs typeface="Cambria" pitchFamily="34" charset="-120"/>
              </a:rPr>
              <a:t>Tiga temuan dari dashboard diterjemahkan menjadi tiga keputusan pengelolaan kebun</a:t>
            </a:r>
            <a:endParaRPr lang="en-US" sz="2400" dirty="0"/>
          </a:p>
        </p:txBody>
      </p:sp>
      <p:sp>
        <p:nvSpPr>
          <p:cNvPr id="5" name="Text 3"/>
          <p:cNvSpPr/>
          <p:nvPr/>
        </p:nvSpPr>
        <p:spPr>
          <a:xfrm>
            <a:off x="11323015" y="320040"/>
            <a:ext cx="365760" cy="274320"/>
          </a:xfrm>
          <a:prstGeom prst="rect">
            <a:avLst/>
          </a:prstGeom>
          <a:noFill/>
          <a:ln/>
        </p:spPr>
        <p:txBody>
          <a:bodyPr wrap="square" lIns="0" tIns="0" rIns="0" bIns="0" rtlCol="0" anchor="t"/>
          <a:lstStyle/>
          <a:p>
            <a:pPr algn="r" indent="0" marL="0">
              <a:buNone/>
            </a:pPr>
            <a:r>
              <a:rPr lang="en-US" sz="1100" dirty="0">
                <a:solidFill>
                  <a:srgbClr val="6C757D"/>
                </a:solidFill>
                <a:latin typeface="Calibri" pitchFamily="34" charset="0"/>
                <a:ea typeface="Calibri" pitchFamily="34" charset="-122"/>
                <a:cs typeface="Calibri" pitchFamily="34" charset="-120"/>
              </a:rPr>
              <a:t>9</a:t>
            </a:r>
            <a:endParaRPr lang="en-US" sz="1100" dirty="0"/>
          </a:p>
        </p:txBody>
      </p:sp>
      <p:sp>
        <p:nvSpPr>
          <p:cNvPr id="6" name="Text 4"/>
          <p:cNvSpPr/>
          <p:nvPr/>
        </p:nvSpPr>
        <p:spPr>
          <a:xfrm>
            <a:off x="548640" y="6400800"/>
            <a:ext cx="8412480" cy="274320"/>
          </a:xfrm>
          <a:prstGeom prst="rect">
            <a:avLst/>
          </a:prstGeom>
          <a:noFill/>
          <a:ln/>
        </p:spPr>
        <p:txBody>
          <a:bodyPr wrap="square" lIns="0" tIns="0" rIns="0" bIns="0" rtlCol="0" anchor="t"/>
          <a:lstStyle/>
          <a:p>
            <a:pPr indent="0" marL="0">
              <a:buNone/>
            </a:pPr>
            <a:r>
              <a:rPr lang="en-US" sz="1100" i="1" dirty="0">
                <a:solidFill>
                  <a:srgbClr val="6C757D"/>
                </a:solidFill>
                <a:latin typeface="Calibri" pitchFamily="34" charset="0"/>
                <a:ea typeface="Calibri" pitchFamily="34" charset="-122"/>
                <a:cs typeface="Calibri" pitchFamily="34" charset="-120"/>
              </a:rPr>
              <a:t>Sumber: buku kasir kebun produksi BBPP Ketindan, 3 Agustus–25 September 2026 (diolah).</a:t>
            </a:r>
            <a:endParaRPr lang="en-US" sz="1100" dirty="0"/>
          </a:p>
        </p:txBody>
      </p:sp>
      <p:sp>
        <p:nvSpPr>
          <p:cNvPr id="7" name="Text 5"/>
          <p:cNvSpPr/>
          <p:nvPr/>
        </p:nvSpPr>
        <p:spPr>
          <a:xfrm>
            <a:off x="8716975" y="6400800"/>
            <a:ext cx="2926080" cy="274320"/>
          </a:xfrm>
          <a:prstGeom prst="rect">
            <a:avLst/>
          </a:prstGeom>
          <a:noFill/>
          <a:ln/>
        </p:spPr>
        <p:txBody>
          <a:bodyPr wrap="square" lIns="0" tIns="0" rIns="0" bIns="0" rtlCol="0" anchor="t"/>
          <a:lstStyle/>
          <a:p>
            <a:pPr algn="r" indent="0" marL="0">
              <a:buNone/>
            </a:pPr>
            <a:r>
              <a:rPr lang="en-US" sz="1000" dirty="0">
                <a:solidFill>
                  <a:srgbClr val="6C757D"/>
                </a:solidFill>
                <a:latin typeface="Calibri" pitchFamily="34" charset="0"/>
                <a:ea typeface="Calibri" pitchFamily="34" charset="-122"/>
                <a:cs typeface="Calibri" pitchFamily="34" charset="-120"/>
              </a:rPr>
              <a:t>Wawasan &amp; rekomendasi</a:t>
            </a:r>
            <a:endParaRPr lang="en-US" sz="1000" dirty="0"/>
          </a:p>
        </p:txBody>
      </p:sp>
      <p:sp>
        <p:nvSpPr>
          <p:cNvPr id="9" name="Shape 6"/>
          <p:cNvSpPr/>
          <p:nvPr/>
        </p:nvSpPr>
        <p:spPr>
          <a:xfrm>
            <a:off x="548640" y="1325880"/>
            <a:ext cx="3515258" cy="4114800"/>
          </a:xfrm>
          <a:prstGeom prst="roundRect">
            <a:avLst>
              <a:gd name="adj" fmla="val 2081"/>
            </a:avLst>
          </a:prstGeom>
          <a:solidFill>
            <a:srgbClr val="EAF3EE"/>
          </a:solidFill>
          <a:ln/>
        </p:spPr>
      </p:sp>
      <p:sp>
        <p:nvSpPr>
          <p:cNvPr id="10" name="Text 7"/>
          <p:cNvSpPr/>
          <p:nvPr/>
        </p:nvSpPr>
        <p:spPr>
          <a:xfrm>
            <a:off x="822960" y="1508760"/>
            <a:ext cx="2966618" cy="868680"/>
          </a:xfrm>
          <a:prstGeom prst="rect">
            <a:avLst/>
          </a:prstGeom>
          <a:noFill/>
          <a:ln/>
        </p:spPr>
        <p:txBody>
          <a:bodyPr wrap="square" lIns="0" tIns="0" rIns="0" bIns="0" rtlCol="0" anchor="ctr"/>
          <a:lstStyle/>
          <a:p>
            <a:pPr indent="0" marL="0">
              <a:buNone/>
            </a:pPr>
            <a:r>
              <a:rPr lang="en-US" sz="4800" b="1" dirty="0">
                <a:solidFill>
                  <a:srgbClr val="C0392B"/>
                </a:solidFill>
                <a:latin typeface="Cambria" pitchFamily="34" charset="0"/>
                <a:ea typeface="Cambria" pitchFamily="34" charset="-122"/>
                <a:cs typeface="Cambria" pitchFamily="34" charset="-120"/>
              </a:rPr>
              <a:t>50,7%</a:t>
            </a:r>
            <a:endParaRPr lang="en-US" sz="4800" dirty="0"/>
          </a:p>
        </p:txBody>
      </p:sp>
      <p:sp>
        <p:nvSpPr>
          <p:cNvPr id="11" name="Text 8"/>
          <p:cNvSpPr/>
          <p:nvPr/>
        </p:nvSpPr>
        <p:spPr>
          <a:xfrm>
            <a:off x="822960" y="2377440"/>
            <a:ext cx="2966618" cy="320040"/>
          </a:xfrm>
          <a:prstGeom prst="rect">
            <a:avLst/>
          </a:prstGeom>
          <a:noFill/>
          <a:ln/>
        </p:spPr>
        <p:txBody>
          <a:bodyPr wrap="square" lIns="0" tIns="0" rIns="0" bIns="0" rtlCol="0" anchor="t"/>
          <a:lstStyle/>
          <a:p>
            <a:pPr indent="0" marL="0">
              <a:buNone/>
            </a:pPr>
            <a:r>
              <a:rPr lang="en-US" sz="1500" dirty="0">
                <a:solidFill>
                  <a:srgbClr val="6C757D"/>
                </a:solidFill>
                <a:latin typeface="Calibri" pitchFamily="34" charset="0"/>
                <a:ea typeface="Calibri" pitchFamily="34" charset="-122"/>
                <a:cs typeface="Calibri" pitchFamily="34" charset="-120"/>
              </a:rPr>
              <a:t>omzet jatuh di Minggu-36</a:t>
            </a:r>
            <a:endParaRPr lang="en-US" sz="1500" dirty="0"/>
          </a:p>
        </p:txBody>
      </p:sp>
      <p:sp>
        <p:nvSpPr>
          <p:cNvPr id="12" name="Text 9"/>
          <p:cNvSpPr/>
          <p:nvPr/>
        </p:nvSpPr>
        <p:spPr>
          <a:xfrm>
            <a:off x="822960" y="2834640"/>
            <a:ext cx="2966618" cy="640080"/>
          </a:xfrm>
          <a:prstGeom prst="rect">
            <a:avLst/>
          </a:prstGeom>
          <a:noFill/>
          <a:ln/>
        </p:spPr>
        <p:txBody>
          <a:bodyPr wrap="square" lIns="0" tIns="0" rIns="0" bIns="0" rtlCol="0" anchor="t"/>
          <a:lstStyle/>
          <a:p>
            <a:pPr indent="0" marL="0">
              <a:buNone/>
            </a:pPr>
            <a:r>
              <a:rPr lang="en-US" sz="1600" b="1" dirty="0">
                <a:solidFill>
                  <a:srgbClr val="1B4332"/>
                </a:solidFill>
                <a:latin typeface="Calibri" pitchFamily="34" charset="0"/>
                <a:ea typeface="Calibri" pitchFamily="34" charset="-122"/>
                <a:cs typeface="Calibri" pitchFamily="34" charset="-120"/>
              </a:rPr>
              <a:t>Temuan: Panen raya serentak</a:t>
            </a:r>
            <a:endParaRPr lang="en-US" sz="1600" dirty="0"/>
          </a:p>
        </p:txBody>
      </p:sp>
      <p:sp>
        <p:nvSpPr>
          <p:cNvPr id="13" name="Shape 10"/>
          <p:cNvSpPr/>
          <p:nvPr/>
        </p:nvSpPr>
        <p:spPr>
          <a:xfrm>
            <a:off x="685800" y="3520440"/>
            <a:ext cx="3240938" cy="1755648"/>
          </a:xfrm>
          <a:prstGeom prst="roundRect">
            <a:avLst>
              <a:gd name="adj" fmla="val 3125"/>
            </a:avLst>
          </a:prstGeom>
          <a:solidFill>
            <a:srgbClr val="FFFFFF"/>
          </a:solidFill>
          <a:ln/>
        </p:spPr>
      </p:sp>
      <p:sp>
        <p:nvSpPr>
          <p:cNvPr id="14" name="Text 11"/>
          <p:cNvSpPr/>
          <p:nvPr/>
        </p:nvSpPr>
        <p:spPr>
          <a:xfrm>
            <a:off x="822960" y="3611880"/>
            <a:ext cx="2966618" cy="1600200"/>
          </a:xfrm>
          <a:prstGeom prst="rect">
            <a:avLst/>
          </a:prstGeom>
          <a:noFill/>
          <a:ln/>
        </p:spPr>
        <p:txBody>
          <a:bodyPr wrap="square" lIns="0" tIns="0" rIns="0" bIns="0" rtlCol="0" anchor="t"/>
          <a:lstStyle/>
          <a:p>
            <a:pPr indent="0" marL="0">
              <a:buNone/>
            </a:pPr>
            <a:r>
              <a:rPr lang="en-US" sz="1500" b="1" dirty="0">
                <a:solidFill>
                  <a:srgbClr val="E09F3E"/>
                </a:solidFill>
                <a:latin typeface="Calibri" pitchFamily="34" charset="0"/>
                <a:ea typeface="Calibri" pitchFamily="34" charset="-122"/>
                <a:cs typeface="Calibri" pitchFamily="34" charset="-120"/>
              </a:rPr>
              <a:t>Keputusan</a:t>
            </a:r>
            <a:endParaRPr lang="en-US" sz="1500" dirty="0"/>
          </a:p>
          <a:p>
            <a:pPr indent="0" marL="0">
              <a:buNone/>
            </a:pPr>
            <a:r>
              <a:rPr lang="en-US" sz="1500" dirty="0">
                <a:solidFill>
                  <a:srgbClr val="212529"/>
                </a:solidFill>
                <a:latin typeface="Calibri" pitchFamily="34" charset="0"/>
                <a:ea typeface="Calibri" pitchFamily="34" charset="-122"/>
                <a:cs typeface="Calibri" pitchFamily="34" charset="-120"/>
              </a:rPr>
              <a:t>Tanam Melon Sweet Lavender bergilir dengan selang 1–2 minggu agar panen tersebar dan dashboard mingguan dipakai memantau hasilnya.</a:t>
            </a:r>
            <a:endParaRPr lang="en-US" sz="1500" dirty="0"/>
          </a:p>
        </p:txBody>
      </p:sp>
      <p:sp>
        <p:nvSpPr>
          <p:cNvPr id="15" name="Shape 12"/>
          <p:cNvSpPr/>
          <p:nvPr/>
        </p:nvSpPr>
        <p:spPr>
          <a:xfrm>
            <a:off x="4338218" y="1325880"/>
            <a:ext cx="3515258" cy="4114800"/>
          </a:xfrm>
          <a:prstGeom prst="roundRect">
            <a:avLst>
              <a:gd name="adj" fmla="val 2081"/>
            </a:avLst>
          </a:prstGeom>
          <a:solidFill>
            <a:srgbClr val="EAF3EE"/>
          </a:solidFill>
          <a:ln/>
        </p:spPr>
      </p:sp>
      <p:sp>
        <p:nvSpPr>
          <p:cNvPr id="16" name="Text 13"/>
          <p:cNvSpPr/>
          <p:nvPr/>
        </p:nvSpPr>
        <p:spPr>
          <a:xfrm>
            <a:off x="4612538" y="1508760"/>
            <a:ext cx="2966618" cy="868680"/>
          </a:xfrm>
          <a:prstGeom prst="rect">
            <a:avLst/>
          </a:prstGeom>
          <a:noFill/>
          <a:ln/>
        </p:spPr>
        <p:txBody>
          <a:bodyPr wrap="square" lIns="0" tIns="0" rIns="0" bIns="0" rtlCol="0" anchor="ctr"/>
          <a:lstStyle/>
          <a:p>
            <a:pPr indent="0" marL="0">
              <a:buNone/>
            </a:pPr>
            <a:r>
              <a:rPr lang="en-US" sz="4800" b="1" dirty="0">
                <a:solidFill>
                  <a:srgbClr val="1B4332"/>
                </a:solidFill>
                <a:latin typeface="Cambria" pitchFamily="34" charset="0"/>
                <a:ea typeface="Cambria" pitchFamily="34" charset="-122"/>
                <a:cs typeface="Cambria" pitchFamily="34" charset="-120"/>
              </a:rPr>
              <a:t>80,6%</a:t>
            </a:r>
            <a:endParaRPr lang="en-US" sz="4800" dirty="0"/>
          </a:p>
        </p:txBody>
      </p:sp>
      <p:sp>
        <p:nvSpPr>
          <p:cNvPr id="17" name="Text 14"/>
          <p:cNvSpPr/>
          <p:nvPr/>
        </p:nvSpPr>
        <p:spPr>
          <a:xfrm>
            <a:off x="4612538" y="2377440"/>
            <a:ext cx="2966618" cy="320040"/>
          </a:xfrm>
          <a:prstGeom prst="rect">
            <a:avLst/>
          </a:prstGeom>
          <a:noFill/>
          <a:ln/>
        </p:spPr>
        <p:txBody>
          <a:bodyPr wrap="square" lIns="0" tIns="0" rIns="0" bIns="0" rtlCol="0" anchor="t"/>
          <a:lstStyle/>
          <a:p>
            <a:pPr indent="0" marL="0">
              <a:buNone/>
            </a:pPr>
            <a:r>
              <a:rPr lang="en-US" sz="1500" dirty="0">
                <a:solidFill>
                  <a:srgbClr val="6C757D"/>
                </a:solidFill>
                <a:latin typeface="Calibri" pitchFamily="34" charset="0"/>
                <a:ea typeface="Calibri" pitchFamily="34" charset="-122"/>
                <a:cs typeface="Calibri" pitchFamily="34" charset="-120"/>
              </a:rPr>
              <a:t>dari 2 komoditas</a:t>
            </a:r>
            <a:endParaRPr lang="en-US" sz="1500" dirty="0"/>
          </a:p>
        </p:txBody>
      </p:sp>
      <p:sp>
        <p:nvSpPr>
          <p:cNvPr id="18" name="Text 15"/>
          <p:cNvSpPr/>
          <p:nvPr/>
        </p:nvSpPr>
        <p:spPr>
          <a:xfrm>
            <a:off x="4612538" y="2834640"/>
            <a:ext cx="2966618" cy="640080"/>
          </a:xfrm>
          <a:prstGeom prst="rect">
            <a:avLst/>
          </a:prstGeom>
          <a:noFill/>
          <a:ln/>
        </p:spPr>
        <p:txBody>
          <a:bodyPr wrap="square" lIns="0" tIns="0" rIns="0" bIns="0" rtlCol="0" anchor="t"/>
          <a:lstStyle/>
          <a:p>
            <a:pPr indent="0" marL="0">
              <a:buNone/>
            </a:pPr>
            <a:r>
              <a:rPr lang="en-US" sz="1600" b="1" dirty="0">
                <a:solidFill>
                  <a:srgbClr val="1B4332"/>
                </a:solidFill>
                <a:latin typeface="Calibri" pitchFamily="34" charset="0"/>
                <a:ea typeface="Calibri" pitchFamily="34" charset="-122"/>
                <a:cs typeface="Calibri" pitchFamily="34" charset="-120"/>
              </a:rPr>
              <a:t>Temuan: Smart Greenhouse = 88,3% omzet</a:t>
            </a:r>
            <a:endParaRPr lang="en-US" sz="1600" dirty="0"/>
          </a:p>
        </p:txBody>
      </p:sp>
      <p:sp>
        <p:nvSpPr>
          <p:cNvPr id="19" name="Shape 16"/>
          <p:cNvSpPr/>
          <p:nvPr/>
        </p:nvSpPr>
        <p:spPr>
          <a:xfrm>
            <a:off x="4475378" y="3520440"/>
            <a:ext cx="3240938" cy="1755648"/>
          </a:xfrm>
          <a:prstGeom prst="roundRect">
            <a:avLst>
              <a:gd name="adj" fmla="val 3125"/>
            </a:avLst>
          </a:prstGeom>
          <a:solidFill>
            <a:srgbClr val="FFFFFF"/>
          </a:solidFill>
          <a:ln/>
        </p:spPr>
      </p:sp>
      <p:sp>
        <p:nvSpPr>
          <p:cNvPr id="20" name="Text 17"/>
          <p:cNvSpPr/>
          <p:nvPr/>
        </p:nvSpPr>
        <p:spPr>
          <a:xfrm>
            <a:off x="4612538" y="3611880"/>
            <a:ext cx="2966618" cy="1600200"/>
          </a:xfrm>
          <a:prstGeom prst="rect">
            <a:avLst/>
          </a:prstGeom>
          <a:noFill/>
          <a:ln/>
        </p:spPr>
        <p:txBody>
          <a:bodyPr wrap="square" lIns="0" tIns="0" rIns="0" bIns="0" rtlCol="0" anchor="t"/>
          <a:lstStyle/>
          <a:p>
            <a:pPr indent="0" marL="0">
              <a:buNone/>
            </a:pPr>
            <a:r>
              <a:rPr lang="en-US" sz="1500" b="1" dirty="0">
                <a:solidFill>
                  <a:srgbClr val="E09F3E"/>
                </a:solidFill>
                <a:latin typeface="Calibri" pitchFamily="34" charset="0"/>
                <a:ea typeface="Calibri" pitchFamily="34" charset="-122"/>
                <a:cs typeface="Calibri" pitchFamily="34" charset="-120"/>
              </a:rPr>
              <a:t>Keputusan</a:t>
            </a:r>
            <a:endParaRPr lang="en-US" sz="1500" dirty="0"/>
          </a:p>
          <a:p>
            <a:pPr indent="0" marL="0">
              <a:buNone/>
            </a:pPr>
            <a:r>
              <a:rPr lang="en-US" sz="1500" dirty="0">
                <a:solidFill>
                  <a:srgbClr val="212529"/>
                </a:solidFill>
                <a:latin typeface="Calibri" pitchFamily="34" charset="0"/>
                <a:ea typeface="Calibri" pitchFamily="34" charset="-122"/>
                <a:cs typeface="Calibri" pitchFamily="34" charset="-120"/>
              </a:rPr>
              <a:t>Prioritaskan SGH untuk Melon Sweet Lavender dan Tomat Cherry; evaluasi blok PP, P3K, PROGEV yang bersama hanya 1,2% omzet.</a:t>
            </a:r>
            <a:endParaRPr lang="en-US" sz="1500" dirty="0"/>
          </a:p>
        </p:txBody>
      </p:sp>
      <p:sp>
        <p:nvSpPr>
          <p:cNvPr id="21" name="Shape 18"/>
          <p:cNvSpPr/>
          <p:nvPr/>
        </p:nvSpPr>
        <p:spPr>
          <a:xfrm>
            <a:off x="8127797" y="1325880"/>
            <a:ext cx="3515258" cy="4114800"/>
          </a:xfrm>
          <a:prstGeom prst="roundRect">
            <a:avLst>
              <a:gd name="adj" fmla="val 2081"/>
            </a:avLst>
          </a:prstGeom>
          <a:solidFill>
            <a:srgbClr val="EAF3EE"/>
          </a:solidFill>
          <a:ln/>
        </p:spPr>
      </p:sp>
      <p:sp>
        <p:nvSpPr>
          <p:cNvPr id="22" name="Text 19"/>
          <p:cNvSpPr/>
          <p:nvPr/>
        </p:nvSpPr>
        <p:spPr>
          <a:xfrm>
            <a:off x="8402117" y="1508760"/>
            <a:ext cx="2966618" cy="868680"/>
          </a:xfrm>
          <a:prstGeom prst="rect">
            <a:avLst/>
          </a:prstGeom>
          <a:noFill/>
          <a:ln/>
        </p:spPr>
        <p:txBody>
          <a:bodyPr wrap="square" lIns="0" tIns="0" rIns="0" bIns="0" rtlCol="0" anchor="ctr"/>
          <a:lstStyle/>
          <a:p>
            <a:pPr indent="0" marL="0">
              <a:buNone/>
            </a:pPr>
            <a:r>
              <a:rPr lang="en-US" sz="4800" b="1" dirty="0">
                <a:solidFill>
                  <a:srgbClr val="1B4332"/>
                </a:solidFill>
                <a:latin typeface="Cambria" pitchFamily="34" charset="0"/>
                <a:ea typeface="Cambria" pitchFamily="34" charset="-122"/>
                <a:cs typeface="Cambria" pitchFamily="34" charset="-120"/>
              </a:rPr>
              <a:t>18,7%</a:t>
            </a:r>
            <a:endParaRPr lang="en-US" sz="4800" dirty="0"/>
          </a:p>
        </p:txBody>
      </p:sp>
      <p:sp>
        <p:nvSpPr>
          <p:cNvPr id="23" name="Text 20"/>
          <p:cNvSpPr/>
          <p:nvPr/>
        </p:nvSpPr>
        <p:spPr>
          <a:xfrm>
            <a:off x="8402117" y="2377440"/>
            <a:ext cx="2966618" cy="320040"/>
          </a:xfrm>
          <a:prstGeom prst="rect">
            <a:avLst/>
          </a:prstGeom>
          <a:noFill/>
          <a:ln/>
        </p:spPr>
        <p:txBody>
          <a:bodyPr wrap="square" lIns="0" tIns="0" rIns="0" bIns="0" rtlCol="0" anchor="t"/>
          <a:lstStyle/>
          <a:p>
            <a:pPr indent="0" marL="0">
              <a:buNone/>
            </a:pPr>
            <a:r>
              <a:rPr lang="en-US" sz="1500" dirty="0">
                <a:solidFill>
                  <a:srgbClr val="6C757D"/>
                </a:solidFill>
                <a:latin typeface="Calibri" pitchFamily="34" charset="0"/>
                <a:ea typeface="Calibri" pitchFamily="34" charset="-122"/>
                <a:cs typeface="Calibri" pitchFamily="34" charset="-120"/>
              </a:rPr>
              <a:t>dari 2 pembeli grosir</a:t>
            </a:r>
            <a:endParaRPr lang="en-US" sz="1500" dirty="0"/>
          </a:p>
        </p:txBody>
      </p:sp>
      <p:sp>
        <p:nvSpPr>
          <p:cNvPr id="24" name="Text 21"/>
          <p:cNvSpPr/>
          <p:nvPr/>
        </p:nvSpPr>
        <p:spPr>
          <a:xfrm>
            <a:off x="8402117" y="2834640"/>
            <a:ext cx="2966618" cy="640080"/>
          </a:xfrm>
          <a:prstGeom prst="rect">
            <a:avLst/>
          </a:prstGeom>
          <a:noFill/>
          <a:ln/>
        </p:spPr>
        <p:txBody>
          <a:bodyPr wrap="square" lIns="0" tIns="0" rIns="0" bIns="0" rtlCol="0" anchor="t"/>
          <a:lstStyle/>
          <a:p>
            <a:pPr indent="0" marL="0">
              <a:buNone/>
            </a:pPr>
            <a:r>
              <a:rPr lang="en-US" sz="1600" b="1" dirty="0">
                <a:solidFill>
                  <a:srgbClr val="1B4332"/>
                </a:solidFill>
                <a:latin typeface="Calibri" pitchFamily="34" charset="0"/>
                <a:ea typeface="Calibri" pitchFamily="34" charset="-122"/>
                <a:cs typeface="Calibri" pitchFamily="34" charset="-120"/>
              </a:rPr>
              <a:t>Temuan: Serapan bergantung pada grosir</a:t>
            </a:r>
            <a:endParaRPr lang="en-US" sz="1600" dirty="0"/>
          </a:p>
        </p:txBody>
      </p:sp>
      <p:sp>
        <p:nvSpPr>
          <p:cNvPr id="25" name="Shape 22"/>
          <p:cNvSpPr/>
          <p:nvPr/>
        </p:nvSpPr>
        <p:spPr>
          <a:xfrm>
            <a:off x="8264957" y="3520440"/>
            <a:ext cx="3240938" cy="1755648"/>
          </a:xfrm>
          <a:prstGeom prst="roundRect">
            <a:avLst>
              <a:gd name="adj" fmla="val 3125"/>
            </a:avLst>
          </a:prstGeom>
          <a:solidFill>
            <a:srgbClr val="FFFFFF"/>
          </a:solidFill>
          <a:ln/>
        </p:spPr>
      </p:sp>
      <p:sp>
        <p:nvSpPr>
          <p:cNvPr id="26" name="Text 23"/>
          <p:cNvSpPr/>
          <p:nvPr/>
        </p:nvSpPr>
        <p:spPr>
          <a:xfrm>
            <a:off x="8402117" y="3611880"/>
            <a:ext cx="2966618" cy="1600200"/>
          </a:xfrm>
          <a:prstGeom prst="rect">
            <a:avLst/>
          </a:prstGeom>
          <a:noFill/>
          <a:ln/>
        </p:spPr>
        <p:txBody>
          <a:bodyPr wrap="square" lIns="0" tIns="0" rIns="0" bIns="0" rtlCol="0" anchor="t"/>
          <a:lstStyle/>
          <a:p>
            <a:pPr indent="0" marL="0">
              <a:buNone/>
            </a:pPr>
            <a:r>
              <a:rPr lang="en-US" sz="1500" b="1" dirty="0">
                <a:solidFill>
                  <a:srgbClr val="E09F3E"/>
                </a:solidFill>
                <a:latin typeface="Calibri" pitchFamily="34" charset="0"/>
                <a:ea typeface="Calibri" pitchFamily="34" charset="-122"/>
                <a:cs typeface="Calibri" pitchFamily="34" charset="-120"/>
              </a:rPr>
              <a:t>Keputusan</a:t>
            </a:r>
            <a:endParaRPr lang="en-US" sz="1500" dirty="0"/>
          </a:p>
          <a:p>
            <a:pPr indent="0" marL="0">
              <a:buNone/>
            </a:pPr>
            <a:r>
              <a:rPr lang="en-US" sz="1500" dirty="0">
                <a:solidFill>
                  <a:srgbClr val="212529"/>
                </a:solidFill>
                <a:latin typeface="Calibri" pitchFamily="34" charset="0"/>
                <a:ea typeface="Calibri" pitchFamily="34" charset="-122"/>
                <a:cs typeface="Calibri" pitchFamily="34" charset="-120"/>
              </a:rPr>
              <a:t>Tawarkan kontrak pre-order sebelum panen raya kepada B Rara Surabaya dan P Joni Batu, dengan uang muka untuk buah grade A.</a:t>
            </a:r>
            <a:endParaRPr lang="en-US" sz="1500" dirty="0"/>
          </a:p>
        </p:txBody>
      </p:sp>
      <p:sp>
        <p:nvSpPr>
          <p:cNvPr id="27" name="Shape 24"/>
          <p:cNvSpPr/>
          <p:nvPr/>
        </p:nvSpPr>
        <p:spPr>
          <a:xfrm>
            <a:off x="548640" y="5623560"/>
            <a:ext cx="11094415" cy="594360"/>
          </a:xfrm>
          <a:prstGeom prst="roundRect">
            <a:avLst>
              <a:gd name="adj" fmla="val 9231"/>
            </a:avLst>
          </a:prstGeom>
          <a:solidFill>
            <a:srgbClr val="1B4332"/>
          </a:solidFill>
          <a:ln/>
        </p:spPr>
      </p:sp>
      <p:sp>
        <p:nvSpPr>
          <p:cNvPr id="28" name="Text 25"/>
          <p:cNvSpPr/>
          <p:nvPr/>
        </p:nvSpPr>
        <p:spPr>
          <a:xfrm>
            <a:off x="777240" y="5623560"/>
            <a:ext cx="10637215" cy="594360"/>
          </a:xfrm>
          <a:prstGeom prst="rect">
            <a:avLst/>
          </a:prstGeom>
          <a:noFill/>
          <a:ln/>
        </p:spPr>
        <p:txBody>
          <a:bodyPr wrap="square" lIns="0" tIns="0" rIns="0" bIns="0" rtlCol="0" anchor="ctr"/>
          <a:lstStyle/>
          <a:p>
            <a:pPr indent="0" marL="0">
              <a:buNone/>
            </a:pPr>
            <a:r>
              <a:rPr lang="en-US" sz="1500" b="1" dirty="0">
                <a:solidFill>
                  <a:srgbClr val="E09F3E"/>
                </a:solidFill>
                <a:latin typeface="Calibri" pitchFamily="34" charset="0"/>
                <a:ea typeface="Calibri" pitchFamily="34" charset="-122"/>
                <a:cs typeface="Calibri" pitchFamily="34" charset="-120"/>
              </a:rPr>
              <a:t>Batasan:  </a:t>
            </a:r>
            <a:pPr indent="0" marL="0">
              <a:buNone/>
            </a:pPr>
            <a:r>
              <a:rPr lang="en-US" sz="1500" dirty="0">
                <a:solidFill>
                  <a:srgbClr val="FFFFFF"/>
                </a:solidFill>
                <a:latin typeface="Calibri" pitchFamily="34" charset="0"/>
                <a:ea typeface="Calibri" pitchFamily="34" charset="-122"/>
                <a:cs typeface="Calibri" pitchFamily="34" charset="-120"/>
              </a:rPr>
              <a:t>data satu musim (8 minggu) dan tanpa biaya produksi, sehingga rekomendasi perlu diuji ulang dengan data musim berikutnya.</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Kesimpulan dan tautan dashboard interaktif</a:t>
            </a:r>
            <a:endParaRPr lang="en-US" sz="3000" dirty="0"/>
          </a:p>
        </p:txBody>
      </p:sp>
      <p:sp>
        <p:nvSpPr>
          <p:cNvPr id="3" name="Text 1"/>
          <p:cNvSpPr/>
          <p:nvPr/>
        </p:nvSpPr>
        <p:spPr>
          <a:xfrm>
            <a:off x="11323015" y="320040"/>
            <a:ext cx="365760" cy="274320"/>
          </a:xfrm>
          <a:prstGeom prst="rect">
            <a:avLst/>
          </a:prstGeom>
          <a:noFill/>
          <a:ln/>
        </p:spPr>
        <p:txBody>
          <a:bodyPr wrap="square" lIns="0" tIns="0" rIns="0" bIns="0" rtlCol="0" anchor="t"/>
          <a:lstStyle/>
          <a:p>
            <a:pPr algn="r" indent="0" marL="0">
              <a:buNone/>
            </a:pPr>
            <a:r>
              <a:rPr lang="en-US" sz="1100" dirty="0">
                <a:solidFill>
                  <a:srgbClr val="A9C2B4"/>
                </a:solidFill>
                <a:latin typeface="Calibri" pitchFamily="34" charset="0"/>
                <a:ea typeface="Calibri" pitchFamily="34" charset="-122"/>
                <a:cs typeface="Calibri" pitchFamily="34" charset="-120"/>
              </a:rPr>
              <a:t>10</a:t>
            </a:r>
            <a:endParaRPr lang="en-US" sz="1100" dirty="0"/>
          </a:p>
        </p:txBody>
      </p:sp>
      <p:sp>
        <p:nvSpPr>
          <p:cNvPr id="4" name="Shape 2"/>
          <p:cNvSpPr/>
          <p:nvPr/>
        </p:nvSpPr>
        <p:spPr>
          <a:xfrm>
            <a:off x="548640" y="1417320"/>
            <a:ext cx="548640" cy="548640"/>
          </a:xfrm>
          <a:prstGeom prst="ellipse">
            <a:avLst/>
          </a:prstGeom>
          <a:solidFill>
            <a:srgbClr val="E09F3E"/>
          </a:solidFill>
          <a:ln/>
        </p:spPr>
      </p:sp>
      <p:sp>
        <p:nvSpPr>
          <p:cNvPr id="5" name="Text 3"/>
          <p:cNvSpPr/>
          <p:nvPr/>
        </p:nvSpPr>
        <p:spPr>
          <a:xfrm>
            <a:off x="548640"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325880" y="1371600"/>
            <a:ext cx="5760720" cy="109728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Buku kasir menjadi data warehouse</a:t>
            </a:r>
            <a:endParaRPr lang="en-US" sz="1600" dirty="0"/>
          </a:p>
          <a:p>
            <a:pPr indent="0" marL="0">
              <a:buNone/>
            </a:pPr>
            <a:r>
              <a:rPr lang="en-US" sz="1500" dirty="0">
                <a:solidFill>
                  <a:srgbClr val="DDEBE2"/>
                </a:solidFill>
                <a:latin typeface="Calibri" pitchFamily="34" charset="0"/>
                <a:ea typeface="Calibri" pitchFamily="34" charset="-122"/>
                <a:cs typeface="Calibri" pitchFamily="34" charset="-120"/>
              </a:rPr>
              <a:t>549 transaksi dibersihkan dan dimodelkan ke star schema 1 fakta + 4 dimensi; total Rp 29.818.920 tervalidasi.</a:t>
            </a:r>
            <a:endParaRPr lang="en-US" sz="1600" dirty="0"/>
          </a:p>
        </p:txBody>
      </p:sp>
      <p:sp>
        <p:nvSpPr>
          <p:cNvPr id="7" name="Shape 5"/>
          <p:cNvSpPr/>
          <p:nvPr/>
        </p:nvSpPr>
        <p:spPr>
          <a:xfrm>
            <a:off x="548640" y="2606040"/>
            <a:ext cx="548640" cy="548640"/>
          </a:xfrm>
          <a:prstGeom prst="ellipse">
            <a:avLst/>
          </a:prstGeom>
          <a:solidFill>
            <a:srgbClr val="E09F3E"/>
          </a:solidFill>
          <a:ln/>
        </p:spPr>
      </p:sp>
      <p:sp>
        <p:nvSpPr>
          <p:cNvPr id="8" name="Text 6"/>
          <p:cNvSpPr/>
          <p:nvPr/>
        </p:nvSpPr>
        <p:spPr>
          <a:xfrm>
            <a:off x="548640" y="2606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325880" y="2560320"/>
            <a:ext cx="5760720" cy="109728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Lima KPI menjawab kapan, apa, siapa</a:t>
            </a:r>
            <a:endParaRPr lang="en-US" sz="1600" dirty="0"/>
          </a:p>
          <a:p>
            <a:pPr indent="0" marL="0">
              <a:buNone/>
            </a:pPr>
            <a:r>
              <a:rPr lang="en-US" sz="1500" dirty="0">
                <a:solidFill>
                  <a:srgbClr val="DDEBE2"/>
                </a:solidFill>
                <a:latin typeface="Calibri" pitchFamily="34" charset="0"/>
                <a:ea typeface="Calibri" pitchFamily="34" charset="-122"/>
                <a:cs typeface="Calibri" pitchFamily="34" charset="-120"/>
              </a:rPr>
              <a:t>Puncak di Minggu-36 (50,7%), dua komoditas 80,6%, dua pembeli grosir 18,7% omzet.</a:t>
            </a:r>
            <a:endParaRPr lang="en-US" sz="1600" dirty="0"/>
          </a:p>
        </p:txBody>
      </p:sp>
      <p:sp>
        <p:nvSpPr>
          <p:cNvPr id="10" name="Shape 8"/>
          <p:cNvSpPr/>
          <p:nvPr/>
        </p:nvSpPr>
        <p:spPr>
          <a:xfrm>
            <a:off x="548640" y="3794760"/>
            <a:ext cx="548640" cy="548640"/>
          </a:xfrm>
          <a:prstGeom prst="ellipse">
            <a:avLst/>
          </a:prstGeom>
          <a:solidFill>
            <a:srgbClr val="E09F3E"/>
          </a:solidFill>
          <a:ln/>
        </p:spPr>
      </p:sp>
      <p:sp>
        <p:nvSpPr>
          <p:cNvPr id="11" name="Text 9"/>
          <p:cNvSpPr/>
          <p:nvPr/>
        </p:nvSpPr>
        <p:spPr>
          <a:xfrm>
            <a:off x="548640" y="37947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325880" y="3749040"/>
            <a:ext cx="5760720" cy="109728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Dashboard sebagai DSS</a:t>
            </a:r>
            <a:endParaRPr lang="en-US" sz="1600" dirty="0"/>
          </a:p>
          <a:p>
            <a:pPr indent="0" marL="0">
              <a:buNone/>
            </a:pPr>
            <a:r>
              <a:rPr lang="en-US" sz="1500" dirty="0">
                <a:solidFill>
                  <a:srgbClr val="DDEBE2"/>
                </a:solidFill>
                <a:latin typeface="Calibri" pitchFamily="34" charset="0"/>
                <a:ea typeface="Calibri" pitchFamily="34" charset="-122"/>
                <a:cs typeface="Calibri" pitchFamily="34" charset="-120"/>
              </a:rPr>
              <a:t>Dipakai evaluasi mingguan untuk jadwal tanam bergilir, prioritas lahan SGH, dan kontrak pre-order.</a:t>
            </a:r>
            <a:endParaRPr lang="en-US" sz="1600" dirty="0"/>
          </a:p>
        </p:txBody>
      </p:sp>
      <p:sp>
        <p:nvSpPr>
          <p:cNvPr id="13" name="Shape 11"/>
          <p:cNvSpPr/>
          <p:nvPr/>
        </p:nvSpPr>
        <p:spPr>
          <a:xfrm>
            <a:off x="7315200" y="1371600"/>
            <a:ext cx="4327855" cy="4572000"/>
          </a:xfrm>
          <a:prstGeom prst="roundRect">
            <a:avLst>
              <a:gd name="adj" fmla="val 1690"/>
            </a:avLst>
          </a:prstGeom>
          <a:solidFill>
            <a:srgbClr val="FFFFFF"/>
          </a:solidFill>
          <a:ln/>
        </p:spPr>
      </p:sp>
      <p:sp>
        <p:nvSpPr>
          <p:cNvPr id="14" name="Text 12"/>
          <p:cNvSpPr/>
          <p:nvPr/>
        </p:nvSpPr>
        <p:spPr>
          <a:xfrm>
            <a:off x="7589520" y="1508760"/>
            <a:ext cx="3779215" cy="548640"/>
          </a:xfrm>
          <a:prstGeom prst="rect">
            <a:avLst/>
          </a:prstGeom>
          <a:noFill/>
          <a:ln/>
        </p:spPr>
        <p:txBody>
          <a:bodyPr wrap="square" lIns="0" tIns="0" rIns="0" bIns="0" rtlCol="0" anchor="t"/>
          <a:lstStyle/>
          <a:p>
            <a:pPr indent="0" marL="0">
              <a:buNone/>
            </a:pPr>
            <a:r>
              <a:rPr lang="en-US" sz="1700" b="1" dirty="0">
                <a:solidFill>
                  <a:srgbClr val="1B4332"/>
                </a:solidFill>
                <a:latin typeface="Calibri" pitchFamily="34" charset="0"/>
                <a:ea typeface="Calibri" pitchFamily="34" charset="-122"/>
                <a:cs typeface="Calibri" pitchFamily="34" charset="-120"/>
              </a:rPr>
              <a:t>Dashboard interaktif (Power BI)</a:t>
            </a:r>
            <a:endParaRPr lang="en-US" sz="1700" dirty="0"/>
          </a:p>
          <a:p>
            <a:pPr indent="0" marL="0">
              <a:buNone/>
            </a:pPr>
            <a:r>
              <a:rPr lang="en-US" sz="1200" b="1" dirty="0">
                <a:solidFill>
                  <a:srgbClr val="6C757D"/>
                </a:solidFill>
                <a:latin typeface="Calibri" pitchFamily="34" charset="0"/>
                <a:ea typeface="Calibri" pitchFamily="34" charset="-122"/>
                <a:cs typeface="Calibri" pitchFamily="34" charset="-120"/>
              </a:rPr>
              <a:t>SPK_Ade Surya Ananda_2646000083_PowerBI</a:t>
            </a:r>
            <a:endParaRPr lang="en-US" sz="1700" dirty="0"/>
          </a:p>
        </p:txBody>
      </p:sp>
      <p:sp>
        <p:nvSpPr>
          <p:cNvPr id="15" name="Text 13"/>
          <p:cNvSpPr/>
          <p:nvPr/>
        </p:nvSpPr>
        <p:spPr>
          <a:xfrm>
            <a:off x="7589520" y="2148840"/>
            <a:ext cx="3779215" cy="685800"/>
          </a:xfrm>
          <a:prstGeom prst="rect">
            <a:avLst/>
          </a:prstGeom>
          <a:noFill/>
          <a:ln/>
        </p:spPr>
        <p:txBody>
          <a:bodyPr wrap="square" lIns="0" tIns="0" rIns="0" bIns="0" rtlCol="0" anchor="t"/>
          <a:lstStyle/>
          <a:p>
            <a:pPr indent="0" marL="0">
              <a:buNone/>
            </a:pPr>
            <a:r>
              <a:rPr lang="en-US" sz="1200" u="sng" dirty="0">
                <a:solidFill>
                  <a:srgbClr val="0B5CA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https://app.powerbi.com/links/76fma9KOTC?ctid=8b603e04-2c81-4b3c-a54e-b1211ffbceed&amp;pbi_source=linkShare</a:t>
            </a:r>
            <a:endParaRPr lang="en-US" sz="1200" dirty="0"/>
          </a:p>
        </p:txBody>
      </p:sp>
      <p:sp>
        <p:nvSpPr>
          <p:cNvPr id="16" name="Shape 14">
            <a:hlinkClick r:id="rId2" tooltip=""/>
          </p:cNvPr>
          <p:cNvSpPr/>
          <p:nvPr/>
        </p:nvSpPr>
        <p:spPr>
          <a:xfrm>
            <a:off x="7589520" y="2834640"/>
            <a:ext cx="2011680" cy="457200"/>
          </a:xfrm>
          <a:prstGeom prst="roundRect">
            <a:avLst>
              <a:gd name="adj" fmla="val 16000"/>
            </a:avLst>
          </a:prstGeom>
          <a:solidFill>
            <a:srgbClr val="E09F3E"/>
          </a:solidFill>
          <a:ln/>
        </p:spPr>
      </p:sp>
      <p:sp>
        <p:nvSpPr>
          <p:cNvPr id="17" name="Text 15"/>
          <p:cNvSpPr/>
          <p:nvPr/>
        </p:nvSpPr>
        <p:spPr>
          <a:xfrm>
            <a:off x="7589520" y="2834640"/>
            <a:ext cx="2011680" cy="457200"/>
          </a:xfrm>
          <a:prstGeom prst="rect">
            <a:avLst/>
          </a:prstGeom>
          <a:noFill/>
          <a:ln/>
        </p:spPr>
        <p:txBody>
          <a:bodyPr wrap="square" lIns="0" tIns="0" rIns="0" bIns="0" rtlCol="0" anchor="ctr"/>
          <a:lstStyle/>
          <a:p>
            <a:pPr algn="ctr" indent="0" marL="0">
              <a:buNone/>
            </a:pPr>
            <a:r>
              <a:rPr lang="en-US" sz="1500" b="1"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Buka dashboard</a:t>
            </a:r>
            <a:endParaRPr lang="en-US" sz="1500" dirty="0"/>
          </a:p>
        </p:txBody>
      </p:sp>
      <p:sp>
        <p:nvSpPr>
          <p:cNvPr id="18" name="Text 16"/>
          <p:cNvSpPr/>
          <p:nvPr/>
        </p:nvSpPr>
        <p:spPr>
          <a:xfrm>
            <a:off x="7589520" y="3474720"/>
            <a:ext cx="3779215" cy="2377440"/>
          </a:xfrm>
          <a:prstGeom prst="rect">
            <a:avLst/>
          </a:prstGeom>
          <a:noFill/>
          <a:ln/>
        </p:spPr>
        <p:txBody>
          <a:bodyPr wrap="square" lIns="0" tIns="0" rIns="0" bIns="0" rtlCol="0" anchor="t"/>
          <a:lstStyle/>
          <a:p>
            <a:pPr indent="0" marL="0">
              <a:spcAft>
                <a:spcPts val="400"/>
              </a:spcAft>
              <a:buNone/>
            </a:pPr>
            <a:r>
              <a:rPr lang="en-US" sz="1300" b="1" dirty="0">
                <a:solidFill>
                  <a:srgbClr val="1B4332"/>
                </a:solidFill>
                <a:latin typeface="Calibri" pitchFamily="34" charset="0"/>
                <a:ea typeface="Calibri" pitchFamily="34" charset="-122"/>
                <a:cs typeface="Calibri" pitchFamily="34" charset="-120"/>
              </a:rPr>
              <a:t>Berkas pendukung</a:t>
            </a:r>
            <a:endParaRPr lang="en-US" sz="1300" dirty="0"/>
          </a:p>
          <a:p>
            <a:pPr indent="0" marL="0">
              <a:spcAft>
                <a:spcPts val="400"/>
              </a:spcAft>
              <a:buNone/>
            </a:pPr>
            <a:r>
              <a:rPr lang="en-US" sz="1200" i="1" dirty="0">
                <a:solidFill>
                  <a:srgbClr val="6C757D"/>
                </a:solidFill>
                <a:latin typeface="Calibri" pitchFamily="34" charset="0"/>
                <a:ea typeface="Calibri" pitchFamily="34" charset="-122"/>
                <a:cs typeface="Calibri" pitchFamily="34" charset="-120"/>
              </a:rPr>
              <a:t>awalan nama: SPK_Ade Surya Ananda_2646000083_</a:t>
            </a:r>
            <a:endParaRPr lang="en-US" sz="1300" dirty="0"/>
          </a:p>
          <a:p>
            <a:pPr indent="0" marL="0">
              <a:spcAft>
                <a:spcPts val="400"/>
              </a:spcAft>
              <a:buNone/>
            </a:pPr>
            <a:r>
              <a:rPr lang="en-US" sz="1300" dirty="0">
                <a:solidFill>
                  <a:srgbClr val="212529"/>
                </a:solidFill>
                <a:latin typeface="Calibri" pitchFamily="34" charset="0"/>
                <a:ea typeface="Calibri" pitchFamily="34" charset="-122"/>
                <a:cs typeface="Calibri" pitchFamily="34" charset="-120"/>
              </a:rPr>
              <a:t>1_Buku Kasir Harian.xlsx (data mentah)</a:t>
            </a:r>
            <a:endParaRPr lang="en-US" sz="1300" dirty="0"/>
          </a:p>
          <a:p>
            <a:pPr indent="0" marL="0">
              <a:spcAft>
                <a:spcPts val="400"/>
              </a:spcAft>
              <a:buNone/>
            </a:pPr>
            <a:r>
              <a:rPr lang="en-US" sz="1300" dirty="0">
                <a:solidFill>
                  <a:srgbClr val="212529"/>
                </a:solidFill>
                <a:latin typeface="Calibri" pitchFamily="34" charset="0"/>
                <a:ea typeface="Calibri" pitchFamily="34" charset="-122"/>
                <a:cs typeface="Calibri" pitchFamily="34" charset="-120"/>
              </a:rPr>
              <a:t>2_Data Bersih.xlsx</a:t>
            </a:r>
            <a:endParaRPr lang="en-US" sz="1300" dirty="0"/>
          </a:p>
          <a:p>
            <a:pPr indent="0" marL="0">
              <a:spcAft>
                <a:spcPts val="400"/>
              </a:spcAft>
              <a:buNone/>
            </a:pPr>
            <a:r>
              <a:rPr lang="en-US" sz="1300" dirty="0">
                <a:solidFill>
                  <a:srgbClr val="212529"/>
                </a:solidFill>
                <a:latin typeface="Calibri" pitchFamily="34" charset="0"/>
                <a:ea typeface="Calibri" pitchFamily="34" charset="-122"/>
                <a:cs typeface="Calibri" pitchFamily="34" charset="-120"/>
              </a:rPr>
              <a:t>3_Data Warehouse Star Schema.xlsx (+ ringkasan KPI)</a:t>
            </a:r>
            <a:endParaRPr lang="en-US" sz="1300" dirty="0"/>
          </a:p>
          <a:p>
            <a:pPr indent="0" marL="0">
              <a:spcAft>
                <a:spcPts val="400"/>
              </a:spcAft>
              <a:buNone/>
            </a:pPr>
            <a:r>
              <a:rPr lang="en-US" sz="1300" dirty="0">
                <a:solidFill>
                  <a:srgbClr val="212529"/>
                </a:solidFill>
                <a:latin typeface="Calibri" pitchFamily="34" charset="0"/>
                <a:ea typeface="Calibri" pitchFamily="34" charset="-122"/>
                <a:cs typeface="Calibri" pitchFamily="34" charset="-120"/>
              </a:rPr>
              <a:t>PowerBI.pbip (proyek Power BI)</a:t>
            </a:r>
            <a:endParaRPr lang="en-US" sz="1300" dirty="0"/>
          </a:p>
          <a:p>
            <a:pPr indent="0" marL="0">
              <a:spcAft>
                <a:spcPts val="400"/>
              </a:spcAft>
              <a:buNone/>
            </a:pPr>
            <a:r>
              <a:rPr lang="en-US" sz="1300" u="sng" dirty="0">
                <a:solidFill>
                  <a:srgbClr val="0B5CAD"/>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https://github.com/adsurkasur/tugas-spk</a:t>
            </a:r>
            <a:endParaRPr lang="en-US" sz="1300" dirty="0"/>
          </a:p>
        </p:txBody>
      </p:sp>
      <p:sp>
        <p:nvSpPr>
          <p:cNvPr id="19" name="Text 17"/>
          <p:cNvSpPr/>
          <p:nvPr/>
        </p:nvSpPr>
        <p:spPr>
          <a:xfrm>
            <a:off x="548640" y="6355080"/>
            <a:ext cx="7315200" cy="320040"/>
          </a:xfrm>
          <a:prstGeom prst="rect">
            <a:avLst/>
          </a:prstGeom>
          <a:noFill/>
          <a:ln/>
        </p:spPr>
        <p:txBody>
          <a:bodyPr wrap="square" lIns="0" tIns="0" rIns="0" bIns="0" rtlCol="0" anchor="t"/>
          <a:lstStyle/>
          <a:p>
            <a:pPr indent="0" marL="0">
              <a:buNone/>
            </a:pPr>
            <a:r>
              <a:rPr lang="en-US" sz="1200" dirty="0">
                <a:solidFill>
                  <a:srgbClr val="A9C2B4"/>
                </a:solidFill>
                <a:latin typeface="Calibri" pitchFamily="34" charset="0"/>
                <a:ea typeface="Calibri" pitchFamily="34" charset="-122"/>
                <a:cs typeface="Calibri" pitchFamily="34" charset="-120"/>
              </a:rPr>
              <a:t>Ade Surya Ananda · NIM 2646000083 · Sistem Penunjang Keputusan</a:t>
            </a:r>
            <a:endParaRPr lang="en-US" sz="1200" dirty="0"/>
          </a:p>
        </p:txBody>
      </p:sp>
    </p:spTree>
  </p:cSld>
  <p:clrMapOvr>
    <a:masterClrMapping/>
  </p:clrMapOvr>
</p:sld>
</file>

<file path=ppt/theme/theme1.xml><?xml version="1.0" encoding="utf-8"?>
<a:theme xmlns:a="http://schemas.openxmlformats.org/drawingml/2006/main" name="Ketindan Green">
  <a:themeElements>
    <a:clrScheme name="Ketindan Green">
      <a:dk1>
        <a:srgbClr val="212529"/>
      </a:dk1>
      <a:lt1>
        <a:srgbClr val="FFFFFF"/>
      </a:lt1>
      <a:dk2>
        <a:srgbClr val="1B4332"/>
      </a:dk2>
      <a:lt2>
        <a:srgbClr val="EAF3EE"/>
      </a:lt2>
      <a:accent1>
        <a:srgbClr val="1B4332"/>
      </a:accent1>
      <a:accent2>
        <a:srgbClr val="2D6A4F"/>
      </a:accent2>
      <a:accent3>
        <a:srgbClr val="E09F3E"/>
      </a:accent3>
      <a:accent4>
        <a:srgbClr val="C0392B"/>
      </a:accent4>
      <a:accent5>
        <a:srgbClr val="52796F"/>
      </a:accent5>
      <a:accent6>
        <a:srgbClr val="84A98C"/>
      </a:accent6>
      <a:hlink>
        <a:srgbClr val="0B5CAD"/>
      </a:hlink>
      <a:folHlink>
        <a:srgbClr val="6F42C1"/>
      </a:folHlink>
    </a:clrScheme>
    <a:fontScheme name="Ketindan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 Dashboard sebagai DSS – BBPP Ketindan</dc:title>
  <dc:subject>PptxGenJS Presentation</dc:subject>
  <dc:creator>Ade Surya Ananda</dc:creator>
  <cp:lastModifiedBy>Ade Surya Ananda</cp:lastModifiedBy>
  <cp:revision>1</cp:revision>
  <dcterms:created xsi:type="dcterms:W3CDTF">2026-10-23T03:23:22Z</dcterms:created>
  <dcterms:modified xsi:type="dcterms:W3CDTF">2026-10-23T03:23:22Z</dcterms:modified>
</cp:coreProperties>
</file>