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.powerbi.com/links/76fma9KOTC?ctid=8b603e04-2c81-4b3c-a54e-b1211ffbceed&amp;pbi_source=linkShare" TargetMode="External"/><Relationship Id="rId3" Type="http://schemas.openxmlformats.org/officeDocument/2006/relationships/hyperlink" Target="https://github.com/adsurkasur/tugas-sp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09F3E"/>
                </a:solidFill>
              </a:defRPr>
            </a:pPr>
            <a:r>
              <a:t>TUGAS 1: SISTEM PENUNJANG KEPUTUSAN (DSS) &amp; BUSINESS INTELLIGENCE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Perancangan BI Dashboard Sebagai DSS untuk Optimasi Penjualan Komoditas Pertanian</a:t>
            </a:r>
          </a:p>
          <a:p>
            <a:pPr>
              <a:spcAft>
                <a:spcPts val="3600"/>
              </a:spcAft>
              <a:defRPr sz="1600">
                <a:solidFill>
                  <a:srgbClr val="E09F3E"/>
                </a:solidFill>
              </a:defRPr>
            </a:pPr>
            <a:r>
              <a:t>Studi Kasus: Kebun Produksi Balai Besar Pelatihan Pertanian (BBPP) Ketindan - Kementerian Pertanian RI</a:t>
            </a:r>
          </a:p>
          <a:p>
            <a:pPr>
              <a:defRPr sz="1300">
                <a:solidFill>
                  <a:srgbClr val="DCEBE1"/>
                </a:solidFill>
              </a:defRPr>
            </a:pPr>
            <a:r>
              <a:t>Periode Observasi Transaksi: 3 Agustus - 25 September 2026 (8 Minggu Operasional Penuh)</a:t>
            </a:r>
            <a:br/>
            <a:r>
              <a:t>Platform BI: Power BI Desktop &amp; Fabric PBIP | Model: Star Schema Data Warehouse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1. Profil Organisasi &amp; Wawasan Pemangku Kepentingan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Profil Balai &amp; Unit Kebun Produksi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Balai Besar Pelatihan Pertanian (BBPP) Ketindan (Lawang, Malang) adalah UPT di bawah BPPSDMP, Kementerian Pertanian RI.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Menjalankan fungsi pelatihan vokasi aparatur pertanian sekaligus mengelola kebun produksi komersial (Smart Greenhouse &amp; Lahan Terbuka).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Menghasilkan komoditas hortikultura unggulan: Melon Eksklusif (Sweet Lavender, Sweet Hammy, The Blues), Tomat Cherry, Pete, dan Sayuran Hidroponik.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Hasil panen didistribusikan ke pasar grosir borongan kota besar (Surabaya, Batu), rekanan vendor, koperasi, dan pembeli langsung.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Tantangan Bisnis &amp; Kebutuhan DSS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Volatilitas Hasil Panen: Siklus panen hortikultura bersifat musiman dan terkonsentrasi pada minggu-minggu tertentu.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Asimetri Serapan Pembeli: Pembeli grosir menyerap omzet dalam jumlah besar namun tanpa komitmen jadwal pemesanan terstruktur.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Efisiensi Lahan yang Beragam: Memiliki 5 blok budidaya (PP, PROGEV, SGH, P3K, UMUM) yang membutuhkan evaluasi produktivitas.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Tujuan DSS: Membangun dashboard analitik interaktif yang menyajikan 5 KPI penting untuk mendukung keputusan masa tanam dan kontrak pasokan.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2. Identifikasi &amp; Justifikasi 5 Key Performance Indicators (KPI)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KPI Dimensi Waktu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KPI 1: Pendapatan Penjualan Mingguan</a:t>
            </a:r>
            <a:br/>
            <a:r>
              <a:t>Memantau likuiditas kas operasional harian/mingguan dan mendeteksi minggu puncak panen (harvest surge) secara tepat.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KPI 2: Pendapatan Penjualan Bulanan</a:t>
            </a:r>
            <a:br/>
            <a:r>
              <a:t>Evaluasi pencapaian target berkala (Agustus vs September 2026) dan mengukur pertumbuhan MoM (+81,4%).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KPI Portofolio Produk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KPI 3: Produk Pendapatan Terbesar</a:t>
            </a:r>
            <a:br/>
            <a:r>
              <a:t>Menentukan komoditas tulang punggung finansial (Melon Sweet Lavender Rp 14,44 Jt &amp; Tomat Cherry Rp 9,60 Jt).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KPI 4: Produk Terbanyak Terjual (Volume)</a:t>
            </a:r>
            <a:br/>
            <a:r>
              <a:t>Menilai serapan kuantitas pasar (Melon Sweet Lavender 860 kg, Pete 487 pack) guna mitigasi risiko pembusukan panen.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KPI Hubungan Pelanggan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KPI 5: Pembeli Belanja Terbanyak</a:t>
            </a:r>
            <a:br/>
            <a:r>
              <a:t>Memetakan pembeli grosir strategis (B Rara Sby Rp 2,87 Jt &amp; P Joni Batu Rp 2,70 Jt).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Justifikasi Manajerial DSS:</a:t>
            </a:r>
            <a:br/>
            <a:r>
              <a:t>Kelima KPI ini menghubungkan aspek arus kas, efisiensi persediaan hasil panen, dan hubungan kemitraan strategis.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3. Pengumpulan Data Aktual &amp; Proses Pembersihan (Cleansing)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Karakteristik Data Aktual Transaksi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Sumber data: Buku kasir harian kebun produksi periode 3 Agustus 2026 s.d. 25 September 2026.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Periode waktu: 8 minggu operasional penuh (melampaui syarat minimal 3 minggu pada pedoman tugas).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Total transaksi: 549 baris pencatatan transaksi valid.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Total omzet riil terverifikasi: Rp 29.818.920.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Cakupan entitas: 16 komoditas unik, 9 label grade mutu, 214 pembeli unik, dan 5 blok lahan pertanian.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Tahapan Data Cleansing &amp; Transformasi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Koreksi Anomali Tanggal: Ditemukan 7 baris bertahun salah (4 baris 2025, 2 baris 2028, 1 baris 2029) dan 2 tanggal berformat teks; dinormalisasi ke 2026 berdasarkan runtutan nomor transaksi.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Standardisasi Teks &amp; Trimming: Mengeliminasi spasi ganda dan trailing whitespace pada nama pelanggan dan produk.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Harmonisasi Satuan: Menyeragamkan penulisan satuan ('kg' menjadi 'Kg', 'paket' menjadi 'Pack' dengan harga identik) sehingga tersisa 4 satuan: Kg, Pack, Ikat, Buah.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Pemisahan Tabel Relasional: Data flat 1 sheet Excel ditransformasikan menjadi Star Schema terpisah.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4. Perancangan Arsitektur Data Warehouse (Star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r_schem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34975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554480"/>
            <a:ext cx="4327855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783080"/>
            <a:ext cx="3824935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Komponen Star Schema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Fact_Penjualan (549 baris):</a:t>
            </a:r>
            <a:br/>
            <a:r>
              <a:t>Menyimpan metrik Volume, HargaSatuan, TotalPendapatan, serta Foreign Keys ke seluruh dimensi.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Dim_Waktu (36 baris):</a:t>
            </a:r>
            <a:br/>
            <a:r>
              <a:t>Atribut Tanggal, Hari, MingguKe (W32-W39), NamaBulan, dan Tahun.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Dim_Produk (34 baris):</a:t>
            </a:r>
            <a:br/>
            <a:r>
              <a:t>Katalog komoditas, grade mutu, dan satuan default.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Dim_Pelanggan (214 baris):</a:t>
            </a:r>
            <a:br/>
            <a:r>
              <a:t>Master 214 entitas pembeli unik.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Dim_Lahan (5 baris):</a:t>
            </a:r>
            <a:br/>
            <a:r>
              <a:t>Kode blok budidaya (PP, PROGEV, SGH, P3K, UMUM).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Keunggulan Model:</a:t>
            </a:r>
            <a:br/>
            <a:r>
              <a:t>Integritas referensial 1-to-many, eliminasi redundansi data, dan performa tinggi pada DAX aggregation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5. Tampilan Power BI Dashboard: Executive View &amp; KPI 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werbi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4189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554480"/>
            <a:ext cx="3962095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783080"/>
            <a:ext cx="3459175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Justifikasi Desain Visual DSS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Format Kanvas: Widescreen 16:9 responsif dengan latar belakang kontras bersih.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3 KPI Cards (Atas):</a:t>
            </a:r>
            <a:br/>
            <a:r>
              <a:t>• Total Pendapatan: Rp 29,82 Jt</a:t>
            </a:r>
            <a:br/>
            <a:r>
              <a:t>• Total Volume: 2.116 (gabungan Kg/Pack/Ikat/Buah)</a:t>
            </a:r>
            <a:br/>
            <a:r>
              <a:t>• Total Transaksi: 549 transaksi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Prinsip F-Shape Reading:</a:t>
            </a:r>
            <a:br/>
            <a:r>
              <a:t>KPI terpenting berada di posisi pandangan pertama (kiri atas) agar pimpinan dapat mengevaluasi kesehatan finansial dalam 5 detik.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Interaktivitas:</a:t>
            </a:r>
            <a:br/>
            <a:r>
              <a:t>Slicer Bulan (Agustus/September) dan cross-filter: klik batang, irisan donut lahan, atau baris pembeli untuk memfilter seluruh visual.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6. Visualisasi Interaktif &amp; Analisis Komparatif 5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Dinamika Tren Waktu (KPI 1 &amp; KPI 2)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Lonjakan Minggu ke-36 (KPI 1):</a:t>
            </a:r>
            <a:br/>
            <a:r>
              <a:t>Pendapatan mencapai puncak di Minggu ke-36 sebesar Rp 15.121.720 (menyumbang 50,7% dari total omzet 2 bulan) akibat panen raya Melon Lavender.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Pertumbuhan Bulanan MoM (KPI 2):</a:t>
            </a:r>
            <a:br/>
            <a:r>
              <a:t>Bulan September mencatat Rp 19,22 Jt dibanding Agustus Rp 10,60 Jt, tumbuh signifikan sebesar +81,4%.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Implikasi DSS: Menunjukkan adanya seasonal spike tinggi yang membutuhkan persiapan logistik dan saluran penjualan borongan.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Performa Produk &amp; Pembeli (KPI 3, 4, 5)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Produk Pendapatan Terbesar (KPI 3):</a:t>
            </a:r>
            <a:br/>
            <a:r>
              <a:t>1. Melon Sweet Lavender: Rp 14.436.800 (48,4%)</a:t>
            </a:r>
            <a:br/>
            <a:r>
              <a:t>2. Tomat Cherry: Rp 9.603.500 (32,2%)</a:t>
            </a:r>
            <a:br/>
            <a:r>
              <a:t>3. Pete: Rp 2.435.000 (8,2%)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Produk Volume Terbanyak (KPI 4):</a:t>
            </a:r>
            <a:br/>
            <a:r>
              <a:t>Melon Sweet Lavender (860 kg), Pete (487 pack), dan Tomat Cherry (372,5 kg).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Pembeli Belanja Tertinggi (KPI 5):</a:t>
            </a:r>
            <a:br/>
            <a:r>
              <a:t>• B Rara Surabaya: Rp 2.868.000 (Grosir)</a:t>
            </a:r>
            <a:br/>
            <a:r>
              <a:t>• P Joni Batu: Rp 2.698.000 (Grosir)</a:t>
            </a:r>
            <a:br/>
            <a:r>
              <a:t>Top 2 pembeli menyerap 18,7% total pendapatan kebun.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7. Wawasan Bisnis Mendalam (Actionable Business Insights)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Efek Pareto 80/20 Portofolio Produk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Hanya 2 dari 16 komoditas (Melon Sweet Lavender dan Tomat Cherry) menyumbang 80,6% dari seluruh total omzet kebun BBPP Ketindan.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14 komoditas lainnya (sawi, selada, kimpul, kenikir) menyumbang 19,4% omzet, namun berfungsi menjaga arus kas harian dan perputaran cepat di pasar lokal.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Konsentrasi Lahan: Smart Greenhouse (SGH) menghasilkan Rp 26,33 Jt (88,3% omzet), lahan UMUM 10,5%, sedangkan PP, P3K, dan PROGEV gabungan kurang dari 1,2%.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Karakteristik Pembeli &amp; Kerentanan Pasar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Distribusi Pembeli Tidak Seimbang: 193 dari 214 pembeli (90%) berbelanja total di bawah Rp 300.000 selama 8 minggu, sementara 2 pembeli grosir teratas menyerap 18,7% omzet.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Ketergantungan Pembeli Luar Kota: Kebun sangat mengandalkan pembeli borongan besar asal Surabaya dan Kota Batu untuk menyerap panen raya.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Risiko Bisnis: Tanpa kepastian jadwal kedatangan pembeli grosir saat masa panen raya, potensi penurunan mutu atau pembusukan buah melon sangat tinggi.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8. Rekomendasi Manajerial Berbasis Decision Support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1. Penjadwalan Tanam Bergilir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Terapkan sistem Staggered Planting pada Melon Sweet Lavender.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Hindari penanaman serentak 100% yang memicu panen menumpuk di Minggu ke-36.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Bagi penanaman ke dalam interval 1-2 minggu agar pasokan melon tersebar rata dan harga jual tetap stabil.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2. Kontrak Kemitraan B2B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Bangun perjanjian Offtaker Pre-order dengan pembeli kunci (B Rara &amp; P Joni).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Terapkan deposit/uang muka sebelum panen untuk menjamin serapan buah Grade A.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Tawarkan sistem bundling untuk komoditas pendamping seperti Tomat Cherry dan sayuran segar.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338328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288036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3. Optimasi Alokasi Lahan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Pertahankan Smart Greenhouse (SGH), sumber 88,3% omzet, khusus untuk varietas bernilai tinggi (Melon &amp; Tomat Cherry).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Evaluasi pemanfaatan blok PP, P3K, dan PROGEV yang kontribusinya di bawah 1%: alihkan ke tanaman cepat panen berbiaya rendah.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Gunakan dashboard Power BI ini untuk evaluasi mingguan operasional kebun.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9F3E"/>
                </a:solidFill>
              </a:defRPr>
            </a:pPr>
            <a:r>
              <a:t>SISTEM PENUNJANG KEPUTUSAN | BUSINESS INTELLIGENCE DASHBOARD</a:t>
            </a:r>
          </a:p>
          <a:p>
            <a:pPr>
              <a:defRPr sz="2100" b="1">
                <a:solidFill>
                  <a:srgbClr val="184C34"/>
                </a:solidFill>
              </a:defRPr>
            </a:pPr>
            <a:r>
              <a:t>9. Kesimpulan &amp; Tautan Publikasi Dashboard Interaktif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35865B"/>
          </a:solidFill>
          <a:ln>
            <a:solidFill>
              <a:srgbClr val="358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Kesimpulan Proyek DSS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Transformasi data operasional kebun BBPP Ketindan menjadi Data Warehouse Star Schema berhasil meningkatkan kecepatan dan kedalaman analitik bisnis.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5 KPI strategis memberikan wawasan komprehensif mengenai waktu panen puncak, komoditas unggulan finansial, dan segmen pembeli kunci.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Dashboard Business Intelligence terbukti efektif sebagai Decision Support System dalam memandu perencanaan masa tanam, zonasi lahan, dan kebijakan penjualan.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84632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4846320"/>
          </a:xfrm>
          <a:prstGeom prst="rect">
            <a:avLst/>
          </a:prstGeom>
          <a:solidFill>
            <a:srgbClr val="35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6177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84C34"/>
                </a:solidFill>
              </a:defRPr>
            </a:pPr>
            <a:r>
              <a:t>Tautan Dashboard &amp; Berkas Pengumpulan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rPr>
                <a:hlinkClick r:id="rId2"/>
              </a:rPr>
              <a:t>• Tautan Dashboard Interaktif (Power BI):</a:t>
            </a:r>
            <a:br/>
            <a:r>
              <a:t>https://app.powerbi.com/links/76fma9KOTC?ctid=8b603e04-2c81-4b3c-a54e-b1211ffbceed&amp;pbi_source=linkShare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rPr>
                <a:hlinkClick r:id="rId3"/>
              </a:rPr>
              <a:t>• Repositori Publik GitHub:</a:t>
            </a:r>
            <a:br/>
            <a:r>
              <a:t>https://github.com/adsurkasur/tugas-spk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Berkas Excel (Data Mentah, Star Schema, Ringkasan KPI):</a:t>
            </a:r>
            <a:br/>
            <a:r>
              <a:t>Data_Warehouse_BBPP_Ketindan_Cleaned.xlsx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Berkas Proyek Power BI:</a:t>
            </a:r>
            <a:br/>
            <a:r>
              <a:t>BBPP_Ketindan_DSS.pbip (Format TMDL)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Batas Akhir Pengumpulan: 23 Oktober 2026 ke brone.ub.ac.id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